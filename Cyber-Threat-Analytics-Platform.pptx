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ptos Bold" charset="1" panose="020B0004020202020204"/>
      <p:regular r:id="rId22"/>
    </p:embeddedFont>
    <p:embeddedFont>
      <p:font typeface="Petrona Bold" charset="1" panose="00000000000000000000"/>
      <p:regular r:id="rId24"/>
    </p:embeddedFont>
    <p:embeddedFont>
      <p:font typeface="Inter" charset="1" panose="02000503000000020004"/>
      <p:regular r:id="rId25"/>
    </p:embeddedFont>
    <p:embeddedFont>
      <p:font typeface="Aptos" charset="1" panose="020B0004020202020204"/>
      <p:regular r:id="rId27"/>
    </p:embeddedFont>
    <p:embeddedFont>
      <p:font typeface="Inter Bold" charset="1" panose="0200050300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notesSlides/notesSlide2.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3.xml" Type="http://schemas.openxmlformats.org/officeDocument/2006/relationships/notesSlide"/><Relationship Id="rId27" Target="fonts/font27.fntdata" Type="http://schemas.openxmlformats.org/officeDocument/2006/relationships/font"/><Relationship Id="rId28" Target="notesSlides/notesSlide4.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1384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Freeform 6" id="6"/>
          <p:cNvSpPr/>
          <p:nvPr/>
        </p:nvSpPr>
        <p:spPr>
          <a:xfrm flipH="false" flipV="false" rot="0">
            <a:off x="-13840" y="0"/>
            <a:ext cx="18081137" cy="10108162"/>
          </a:xfrm>
          <a:custGeom>
            <a:avLst/>
            <a:gdLst/>
            <a:ahLst/>
            <a:cxnLst/>
            <a:rect r="r" b="b" t="t" l="l"/>
            <a:pathLst>
              <a:path h="10108162" w="18081137">
                <a:moveTo>
                  <a:pt x="0" y="0"/>
                </a:moveTo>
                <a:lnTo>
                  <a:pt x="18081137" y="0"/>
                </a:lnTo>
                <a:lnTo>
                  <a:pt x="18081137" y="10108162"/>
                </a:lnTo>
                <a:lnTo>
                  <a:pt x="0" y="10108162"/>
                </a:lnTo>
                <a:lnTo>
                  <a:pt x="0" y="0"/>
                </a:lnTo>
                <a:close/>
              </a:path>
            </a:pathLst>
          </a:custGeom>
          <a:blipFill>
            <a:blip r:embed="rId3"/>
            <a:stretch>
              <a:fillRect l="-814" t="0" r="-814" b="-169"/>
            </a:stretch>
          </a:blipFill>
        </p:spPr>
      </p:sp>
      <p:sp>
        <p:nvSpPr>
          <p:cNvPr name="TextBox 7" id="7"/>
          <p:cNvSpPr txBox="true"/>
          <p:nvPr/>
        </p:nvSpPr>
        <p:spPr>
          <a:xfrm rot="0">
            <a:off x="1021814" y="-28575"/>
            <a:ext cx="16009829" cy="3764108"/>
          </a:xfrm>
          <a:prstGeom prst="rect">
            <a:avLst/>
          </a:prstGeom>
        </p:spPr>
        <p:txBody>
          <a:bodyPr anchor="t" rtlCol="false" tIns="0" lIns="0" bIns="0" rIns="0">
            <a:spAutoFit/>
          </a:bodyPr>
          <a:lstStyle/>
          <a:p>
            <a:pPr algn="ctr">
              <a:lnSpc>
                <a:spcPts val="7445"/>
              </a:lnSpc>
            </a:pPr>
            <a:r>
              <a:rPr lang="en-US" b="true" sz="5965" spc="-119">
                <a:solidFill>
                  <a:srgbClr val="FFFFFF"/>
                </a:solidFill>
                <a:latin typeface="Aptos Bold"/>
                <a:ea typeface="Aptos Bold"/>
                <a:cs typeface="Aptos Bold"/>
                <a:sym typeface="Aptos Bold"/>
              </a:rPr>
              <a:t>Cyber Threat Analytics Platform with Incident Visualization System</a:t>
            </a:r>
          </a:p>
          <a:p>
            <a:pPr algn="ctr">
              <a:lnSpc>
                <a:spcPts val="7445"/>
              </a:lnSpc>
            </a:pPr>
          </a:p>
          <a:p>
            <a:pPr algn="l">
              <a:lnSpc>
                <a:spcPts val="7445"/>
              </a:lnSpc>
            </a:pP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91997"/>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88219" y="571715"/>
            <a:ext cx="16071609" cy="825679"/>
          </a:xfrm>
          <a:prstGeom prst="rect">
            <a:avLst/>
          </a:prstGeom>
        </p:spPr>
        <p:txBody>
          <a:bodyPr anchor="t" rtlCol="false" tIns="0" lIns="0" bIns="0" rIns="0">
            <a:spAutoFit/>
          </a:bodyPr>
          <a:lstStyle/>
          <a:p>
            <a:pPr algn="l">
              <a:lnSpc>
                <a:spcPts val="6463"/>
              </a:lnSpc>
            </a:pPr>
            <a:r>
              <a:rPr lang="en-US" b="true" sz="5179" spc="-103">
                <a:solidFill>
                  <a:srgbClr val="45618A"/>
                </a:solidFill>
                <a:latin typeface="Petrona Bold"/>
                <a:ea typeface="Petrona Bold"/>
                <a:cs typeface="Petrona Bold"/>
                <a:sym typeface="Petrona Bold"/>
              </a:rPr>
              <a:t>Project Overview &amp; Problem</a:t>
            </a:r>
          </a:p>
        </p:txBody>
      </p:sp>
      <p:grpSp>
        <p:nvGrpSpPr>
          <p:cNvPr name="Group 7" id="7"/>
          <p:cNvGrpSpPr/>
          <p:nvPr/>
        </p:nvGrpSpPr>
        <p:grpSpPr>
          <a:xfrm rot="0">
            <a:off x="988219" y="2021436"/>
            <a:ext cx="5313464" cy="2098777"/>
            <a:chOff x="0" y="0"/>
            <a:chExt cx="7084619" cy="2798369"/>
          </a:xfrm>
        </p:grpSpPr>
        <p:sp>
          <p:nvSpPr>
            <p:cNvPr name="Freeform 8" id="8"/>
            <p:cNvSpPr/>
            <p:nvPr/>
          </p:nvSpPr>
          <p:spPr>
            <a:xfrm flipH="false" flipV="false" rot="0">
              <a:off x="0" y="0"/>
              <a:ext cx="7084695" cy="2798445"/>
            </a:xfrm>
            <a:custGeom>
              <a:avLst/>
              <a:gdLst/>
              <a:ahLst/>
              <a:cxnLst/>
              <a:rect r="r" b="b" t="t" l="l"/>
              <a:pathLst>
                <a:path h="2798445" w="7084695">
                  <a:moveTo>
                    <a:pt x="0" y="134747"/>
                  </a:moveTo>
                  <a:cubicBezTo>
                    <a:pt x="0" y="60325"/>
                    <a:pt x="60325" y="0"/>
                    <a:pt x="134747" y="0"/>
                  </a:cubicBezTo>
                  <a:lnTo>
                    <a:pt x="6949948" y="0"/>
                  </a:lnTo>
                  <a:cubicBezTo>
                    <a:pt x="7024370" y="0"/>
                    <a:pt x="7084695" y="60325"/>
                    <a:pt x="7084695" y="134747"/>
                  </a:cubicBezTo>
                  <a:lnTo>
                    <a:pt x="7084695" y="2663698"/>
                  </a:lnTo>
                  <a:cubicBezTo>
                    <a:pt x="7084695" y="2738120"/>
                    <a:pt x="7024370" y="2798445"/>
                    <a:pt x="6949948" y="2798445"/>
                  </a:cubicBezTo>
                  <a:lnTo>
                    <a:pt x="134747" y="2798445"/>
                  </a:lnTo>
                  <a:cubicBezTo>
                    <a:pt x="60325" y="2798318"/>
                    <a:pt x="0" y="2738120"/>
                    <a:pt x="0" y="2663698"/>
                  </a:cubicBezTo>
                  <a:close/>
                </a:path>
              </a:pathLst>
            </a:custGeom>
            <a:solidFill>
              <a:srgbClr val="E0D7F4"/>
            </a:solidFill>
            <a:ln w="9532" cap="sq">
              <a:solidFill>
                <a:srgbClr val="C6BDDA"/>
              </a:solidFill>
              <a:prstDash val="solid"/>
              <a:miter/>
            </a:ln>
          </p:spPr>
        </p:sp>
      </p:grpSp>
      <p:sp>
        <p:nvSpPr>
          <p:cNvPr name="TextBox 9" id="9"/>
          <p:cNvSpPr txBox="true"/>
          <p:nvPr/>
        </p:nvSpPr>
        <p:spPr>
          <a:xfrm rot="0">
            <a:off x="1241870" y="2467289"/>
            <a:ext cx="4806172" cy="439960"/>
          </a:xfrm>
          <a:prstGeom prst="rect">
            <a:avLst/>
          </a:prstGeom>
        </p:spPr>
        <p:txBody>
          <a:bodyPr anchor="t" rtlCol="false" tIns="0" lIns="0" bIns="0" rIns="0">
            <a:spAutoFit/>
          </a:bodyPr>
          <a:lstStyle/>
          <a:p>
            <a:pPr algn="l">
              <a:lnSpc>
                <a:spcPts val="3184"/>
              </a:lnSpc>
            </a:pPr>
            <a:r>
              <a:rPr lang="en-US" b="true" sz="2551" spc="-52">
                <a:solidFill>
                  <a:srgbClr val="272525"/>
                </a:solidFill>
                <a:latin typeface="Petrona Bold"/>
                <a:ea typeface="Petrona Bold"/>
                <a:cs typeface="Petrona Bold"/>
                <a:sym typeface="Petrona Bold"/>
              </a:rPr>
              <a:t>Overview</a:t>
            </a:r>
          </a:p>
        </p:txBody>
      </p:sp>
      <p:sp>
        <p:nvSpPr>
          <p:cNvPr name="TextBox 10" id="10"/>
          <p:cNvSpPr txBox="true"/>
          <p:nvPr/>
        </p:nvSpPr>
        <p:spPr>
          <a:xfrm rot="0">
            <a:off x="1241870" y="2980715"/>
            <a:ext cx="4806172" cy="1106624"/>
          </a:xfrm>
          <a:prstGeom prst="rect">
            <a:avLst/>
          </a:prstGeom>
        </p:spPr>
        <p:txBody>
          <a:bodyPr anchor="t" rtlCol="false" tIns="0" lIns="0" bIns="0" rIns="0">
            <a:spAutoFit/>
          </a:bodyPr>
          <a:lstStyle/>
          <a:p>
            <a:pPr algn="l">
              <a:lnSpc>
                <a:spcPts val="2769"/>
              </a:lnSpc>
            </a:pPr>
            <a:r>
              <a:rPr lang="en-US" sz="1876" spc="-37">
                <a:solidFill>
                  <a:srgbClr val="272525"/>
                </a:solidFill>
                <a:latin typeface="Inter"/>
                <a:ea typeface="Inter"/>
                <a:cs typeface="Inter"/>
                <a:sym typeface="Inter"/>
              </a:rPr>
              <a:t>Analyses incidents, threats, locations, environment and response data to support decisions.</a:t>
            </a:r>
          </a:p>
        </p:txBody>
      </p:sp>
      <p:grpSp>
        <p:nvGrpSpPr>
          <p:cNvPr name="Group 11" id="11"/>
          <p:cNvGrpSpPr/>
          <p:nvPr/>
        </p:nvGrpSpPr>
        <p:grpSpPr>
          <a:xfrm rot="0">
            <a:off x="6686540" y="1988563"/>
            <a:ext cx="5313464" cy="2098777"/>
            <a:chOff x="0" y="0"/>
            <a:chExt cx="7084619" cy="2798369"/>
          </a:xfrm>
        </p:grpSpPr>
        <p:sp>
          <p:nvSpPr>
            <p:cNvPr name="Freeform 12" id="12"/>
            <p:cNvSpPr/>
            <p:nvPr/>
          </p:nvSpPr>
          <p:spPr>
            <a:xfrm flipH="false" flipV="false" rot="0">
              <a:off x="0" y="0"/>
              <a:ext cx="7084695" cy="2798445"/>
            </a:xfrm>
            <a:custGeom>
              <a:avLst/>
              <a:gdLst/>
              <a:ahLst/>
              <a:cxnLst/>
              <a:rect r="r" b="b" t="t" l="l"/>
              <a:pathLst>
                <a:path h="2798445" w="7084695">
                  <a:moveTo>
                    <a:pt x="0" y="134747"/>
                  </a:moveTo>
                  <a:cubicBezTo>
                    <a:pt x="0" y="60325"/>
                    <a:pt x="60325" y="0"/>
                    <a:pt x="134747" y="0"/>
                  </a:cubicBezTo>
                  <a:lnTo>
                    <a:pt x="6949948" y="0"/>
                  </a:lnTo>
                  <a:cubicBezTo>
                    <a:pt x="7024370" y="0"/>
                    <a:pt x="7084695" y="60325"/>
                    <a:pt x="7084695" y="134747"/>
                  </a:cubicBezTo>
                  <a:lnTo>
                    <a:pt x="7084695" y="2663698"/>
                  </a:lnTo>
                  <a:cubicBezTo>
                    <a:pt x="7084695" y="2738120"/>
                    <a:pt x="7024370" y="2798445"/>
                    <a:pt x="6949948" y="2798445"/>
                  </a:cubicBezTo>
                  <a:lnTo>
                    <a:pt x="134747" y="2798445"/>
                  </a:lnTo>
                  <a:cubicBezTo>
                    <a:pt x="60325" y="2798318"/>
                    <a:pt x="0" y="2738120"/>
                    <a:pt x="0" y="2663698"/>
                  </a:cubicBezTo>
                  <a:close/>
                </a:path>
              </a:pathLst>
            </a:custGeom>
            <a:solidFill>
              <a:srgbClr val="E0D7F4"/>
            </a:solidFill>
            <a:ln w="9532" cap="sq">
              <a:solidFill>
                <a:srgbClr val="C6BDDA"/>
              </a:solidFill>
              <a:prstDash val="solid"/>
              <a:miter/>
            </a:ln>
          </p:spPr>
        </p:sp>
      </p:grpSp>
      <p:sp>
        <p:nvSpPr>
          <p:cNvPr name="TextBox 13" id="13"/>
          <p:cNvSpPr txBox="true"/>
          <p:nvPr/>
        </p:nvSpPr>
        <p:spPr>
          <a:xfrm rot="0">
            <a:off x="7001408" y="2467289"/>
            <a:ext cx="4806172" cy="439960"/>
          </a:xfrm>
          <a:prstGeom prst="rect">
            <a:avLst/>
          </a:prstGeom>
        </p:spPr>
        <p:txBody>
          <a:bodyPr anchor="t" rtlCol="false" tIns="0" lIns="0" bIns="0" rIns="0">
            <a:spAutoFit/>
          </a:bodyPr>
          <a:lstStyle/>
          <a:p>
            <a:pPr algn="l">
              <a:lnSpc>
                <a:spcPts val="3184"/>
              </a:lnSpc>
            </a:pPr>
            <a:r>
              <a:rPr lang="en-US" b="true" sz="2551" spc="-52">
                <a:solidFill>
                  <a:srgbClr val="272525"/>
                </a:solidFill>
                <a:latin typeface="Petrona Bold"/>
                <a:ea typeface="Petrona Bold"/>
                <a:cs typeface="Petrona Bold"/>
                <a:sym typeface="Petrona Bold"/>
              </a:rPr>
              <a:t>Purpose</a:t>
            </a:r>
          </a:p>
        </p:txBody>
      </p:sp>
      <p:sp>
        <p:nvSpPr>
          <p:cNvPr name="TextBox 14" id="14"/>
          <p:cNvSpPr txBox="true"/>
          <p:nvPr/>
        </p:nvSpPr>
        <p:spPr>
          <a:xfrm rot="0">
            <a:off x="7001408" y="2980715"/>
            <a:ext cx="4806172" cy="753618"/>
          </a:xfrm>
          <a:prstGeom prst="rect">
            <a:avLst/>
          </a:prstGeom>
        </p:spPr>
        <p:txBody>
          <a:bodyPr anchor="t" rtlCol="false" tIns="0" lIns="0" bIns="0" rIns="0">
            <a:spAutoFit/>
          </a:bodyPr>
          <a:lstStyle/>
          <a:p>
            <a:pPr algn="l">
              <a:lnSpc>
                <a:spcPts val="2769"/>
              </a:lnSpc>
            </a:pPr>
            <a:r>
              <a:rPr lang="en-US" sz="1876" spc="-37">
                <a:solidFill>
                  <a:srgbClr val="272525"/>
                </a:solidFill>
                <a:latin typeface="Inter"/>
                <a:ea typeface="Inter"/>
                <a:cs typeface="Inter"/>
                <a:sym typeface="Inter"/>
              </a:rPr>
              <a:t>Understand patterns, identify hotspots, assess risks and monitor emerging threats.</a:t>
            </a:r>
          </a:p>
        </p:txBody>
      </p:sp>
      <p:grpSp>
        <p:nvGrpSpPr>
          <p:cNvPr name="Group 15" id="15"/>
          <p:cNvGrpSpPr/>
          <p:nvPr/>
        </p:nvGrpSpPr>
        <p:grpSpPr>
          <a:xfrm rot="0">
            <a:off x="12253655" y="1972923"/>
            <a:ext cx="5313464" cy="2098777"/>
            <a:chOff x="0" y="0"/>
            <a:chExt cx="7084619" cy="2798369"/>
          </a:xfrm>
        </p:grpSpPr>
        <p:sp>
          <p:nvSpPr>
            <p:cNvPr name="Freeform 16" id="16"/>
            <p:cNvSpPr/>
            <p:nvPr/>
          </p:nvSpPr>
          <p:spPr>
            <a:xfrm flipH="false" flipV="false" rot="0">
              <a:off x="0" y="0"/>
              <a:ext cx="7084695" cy="2798445"/>
            </a:xfrm>
            <a:custGeom>
              <a:avLst/>
              <a:gdLst/>
              <a:ahLst/>
              <a:cxnLst/>
              <a:rect r="r" b="b" t="t" l="l"/>
              <a:pathLst>
                <a:path h="2798445" w="7084695">
                  <a:moveTo>
                    <a:pt x="0" y="134747"/>
                  </a:moveTo>
                  <a:cubicBezTo>
                    <a:pt x="0" y="60325"/>
                    <a:pt x="60325" y="0"/>
                    <a:pt x="134747" y="0"/>
                  </a:cubicBezTo>
                  <a:lnTo>
                    <a:pt x="6949948" y="0"/>
                  </a:lnTo>
                  <a:cubicBezTo>
                    <a:pt x="7024370" y="0"/>
                    <a:pt x="7084695" y="60325"/>
                    <a:pt x="7084695" y="134747"/>
                  </a:cubicBezTo>
                  <a:lnTo>
                    <a:pt x="7084695" y="2663698"/>
                  </a:lnTo>
                  <a:cubicBezTo>
                    <a:pt x="7084695" y="2738120"/>
                    <a:pt x="7024370" y="2798445"/>
                    <a:pt x="6949948" y="2798445"/>
                  </a:cubicBezTo>
                  <a:lnTo>
                    <a:pt x="134747" y="2798445"/>
                  </a:lnTo>
                  <a:cubicBezTo>
                    <a:pt x="60325" y="2798318"/>
                    <a:pt x="0" y="2738120"/>
                    <a:pt x="0" y="2663698"/>
                  </a:cubicBezTo>
                  <a:close/>
                </a:path>
              </a:pathLst>
            </a:custGeom>
            <a:solidFill>
              <a:srgbClr val="E0D7F4"/>
            </a:solidFill>
            <a:ln w="9532" cap="sq">
              <a:solidFill>
                <a:srgbClr val="C6BDDA"/>
              </a:solidFill>
              <a:prstDash val="solid"/>
              <a:miter/>
            </a:ln>
          </p:spPr>
        </p:sp>
      </p:grpSp>
      <p:sp>
        <p:nvSpPr>
          <p:cNvPr name="TextBox 17" id="17"/>
          <p:cNvSpPr txBox="true"/>
          <p:nvPr/>
        </p:nvSpPr>
        <p:spPr>
          <a:xfrm rot="0">
            <a:off x="12453128" y="2464556"/>
            <a:ext cx="4806172" cy="439960"/>
          </a:xfrm>
          <a:prstGeom prst="rect">
            <a:avLst/>
          </a:prstGeom>
        </p:spPr>
        <p:txBody>
          <a:bodyPr anchor="t" rtlCol="false" tIns="0" lIns="0" bIns="0" rIns="0">
            <a:spAutoFit/>
          </a:bodyPr>
          <a:lstStyle/>
          <a:p>
            <a:pPr algn="l">
              <a:lnSpc>
                <a:spcPts val="3184"/>
              </a:lnSpc>
            </a:pPr>
            <a:r>
              <a:rPr lang="en-US" b="true" sz="2551" spc="-52">
                <a:solidFill>
                  <a:srgbClr val="272525"/>
                </a:solidFill>
                <a:latin typeface="Petrona Bold"/>
                <a:ea typeface="Petrona Bold"/>
                <a:cs typeface="Petrona Bold"/>
                <a:sym typeface="Petrona Bold"/>
              </a:rPr>
              <a:t>Problem</a:t>
            </a:r>
          </a:p>
        </p:txBody>
      </p:sp>
      <p:sp>
        <p:nvSpPr>
          <p:cNvPr name="TextBox 18" id="18"/>
          <p:cNvSpPr txBox="true"/>
          <p:nvPr/>
        </p:nvSpPr>
        <p:spPr>
          <a:xfrm rot="0">
            <a:off x="12453128" y="2980715"/>
            <a:ext cx="4806172" cy="1106624"/>
          </a:xfrm>
          <a:prstGeom prst="rect">
            <a:avLst/>
          </a:prstGeom>
        </p:spPr>
        <p:txBody>
          <a:bodyPr anchor="t" rtlCol="false" tIns="0" lIns="0" bIns="0" rIns="0">
            <a:spAutoFit/>
          </a:bodyPr>
          <a:lstStyle/>
          <a:p>
            <a:pPr algn="l">
              <a:lnSpc>
                <a:spcPts val="2769"/>
              </a:lnSpc>
            </a:pPr>
            <a:r>
              <a:rPr lang="en-US" sz="1876" spc="-37">
                <a:solidFill>
                  <a:srgbClr val="272525"/>
                </a:solidFill>
                <a:latin typeface="Inter"/>
                <a:ea typeface="Inter"/>
                <a:cs typeface="Inter"/>
                <a:sym typeface="Inter"/>
              </a:rPr>
              <a:t>Distributed operational and environmental data makes threat identification and fast decisions difficult.</a:t>
            </a:r>
          </a:p>
        </p:txBody>
      </p:sp>
      <p:sp>
        <p:nvSpPr>
          <p:cNvPr name="TextBox 19" id="19"/>
          <p:cNvSpPr txBox="true"/>
          <p:nvPr/>
        </p:nvSpPr>
        <p:spPr>
          <a:xfrm rot="0">
            <a:off x="1028700" y="4404413"/>
            <a:ext cx="16031127" cy="651109"/>
          </a:xfrm>
          <a:prstGeom prst="rect">
            <a:avLst/>
          </a:prstGeom>
        </p:spPr>
        <p:txBody>
          <a:bodyPr anchor="t" rtlCol="false" tIns="0" lIns="0" bIns="0" rIns="0">
            <a:spAutoFit/>
          </a:bodyPr>
          <a:lstStyle/>
          <a:p>
            <a:pPr algn="l">
              <a:lnSpc>
                <a:spcPts val="5152"/>
              </a:lnSpc>
            </a:pPr>
            <a:r>
              <a:rPr lang="en-US" b="true" sz="4128" spc="-82">
                <a:solidFill>
                  <a:srgbClr val="45618A"/>
                </a:solidFill>
                <a:latin typeface="Petrona Bold"/>
                <a:ea typeface="Petrona Bold"/>
                <a:cs typeface="Petrona Bold"/>
                <a:sym typeface="Petrona Bold"/>
              </a:rPr>
              <a:t>Project Objectives</a:t>
            </a:r>
          </a:p>
        </p:txBody>
      </p:sp>
      <p:grpSp>
        <p:nvGrpSpPr>
          <p:cNvPr name="Group 20" id="20"/>
          <p:cNvGrpSpPr/>
          <p:nvPr/>
        </p:nvGrpSpPr>
        <p:grpSpPr>
          <a:xfrm rot="0">
            <a:off x="988219" y="5595699"/>
            <a:ext cx="5313464" cy="1745780"/>
            <a:chOff x="0" y="0"/>
            <a:chExt cx="7084619" cy="2327707"/>
          </a:xfrm>
        </p:grpSpPr>
        <p:sp>
          <p:nvSpPr>
            <p:cNvPr name="Freeform 21" id="21"/>
            <p:cNvSpPr/>
            <p:nvPr/>
          </p:nvSpPr>
          <p:spPr>
            <a:xfrm flipH="false" flipV="false" rot="0">
              <a:off x="0" y="0"/>
              <a:ext cx="7084568" cy="2327656"/>
            </a:xfrm>
            <a:custGeom>
              <a:avLst/>
              <a:gdLst/>
              <a:ahLst/>
              <a:cxnLst/>
              <a:rect r="r" b="b" t="t" l="l"/>
              <a:pathLst>
                <a:path h="2327656" w="7084568">
                  <a:moveTo>
                    <a:pt x="0" y="134747"/>
                  </a:moveTo>
                  <a:cubicBezTo>
                    <a:pt x="0" y="60325"/>
                    <a:pt x="60325" y="0"/>
                    <a:pt x="134747" y="0"/>
                  </a:cubicBezTo>
                  <a:lnTo>
                    <a:pt x="6949821" y="0"/>
                  </a:lnTo>
                  <a:cubicBezTo>
                    <a:pt x="7024243" y="0"/>
                    <a:pt x="7084568" y="60325"/>
                    <a:pt x="7084568" y="134747"/>
                  </a:cubicBezTo>
                  <a:lnTo>
                    <a:pt x="7084568" y="2192909"/>
                  </a:lnTo>
                  <a:cubicBezTo>
                    <a:pt x="7084568" y="2267331"/>
                    <a:pt x="7024243" y="2327656"/>
                    <a:pt x="6949821" y="2327656"/>
                  </a:cubicBezTo>
                  <a:lnTo>
                    <a:pt x="134747" y="2327656"/>
                  </a:lnTo>
                  <a:cubicBezTo>
                    <a:pt x="60325" y="2327656"/>
                    <a:pt x="0" y="2267331"/>
                    <a:pt x="0" y="2192909"/>
                  </a:cubicBezTo>
                  <a:close/>
                </a:path>
              </a:pathLst>
            </a:custGeom>
            <a:solidFill>
              <a:srgbClr val="E0D7F4"/>
            </a:solidFill>
            <a:ln w="9532" cap="sq">
              <a:solidFill>
                <a:srgbClr val="C6BDDA"/>
              </a:solidFill>
              <a:prstDash val="solid"/>
              <a:miter/>
            </a:ln>
          </p:spPr>
        </p:sp>
      </p:grpSp>
      <p:sp>
        <p:nvSpPr>
          <p:cNvPr name="TextBox 22" id="22"/>
          <p:cNvSpPr txBox="true"/>
          <p:nvPr/>
        </p:nvSpPr>
        <p:spPr>
          <a:xfrm rot="0">
            <a:off x="1241870" y="5820775"/>
            <a:ext cx="4806172" cy="439960"/>
          </a:xfrm>
          <a:prstGeom prst="rect">
            <a:avLst/>
          </a:prstGeom>
        </p:spPr>
        <p:txBody>
          <a:bodyPr anchor="t" rtlCol="false" tIns="0" lIns="0" bIns="0" rIns="0">
            <a:spAutoFit/>
          </a:bodyPr>
          <a:lstStyle/>
          <a:p>
            <a:pPr algn="l">
              <a:lnSpc>
                <a:spcPts val="3184"/>
              </a:lnSpc>
            </a:pPr>
            <a:r>
              <a:rPr lang="en-US" b="true" sz="2551" spc="-52">
                <a:solidFill>
                  <a:srgbClr val="272525"/>
                </a:solidFill>
                <a:latin typeface="Petrona Bold"/>
                <a:ea typeface="Petrona Bold"/>
                <a:cs typeface="Petrona Bold"/>
                <a:sym typeface="Petrona Bold"/>
              </a:rPr>
              <a:t>Threat Analysis</a:t>
            </a:r>
          </a:p>
        </p:txBody>
      </p:sp>
      <p:sp>
        <p:nvSpPr>
          <p:cNvPr name="TextBox 23" id="23"/>
          <p:cNvSpPr txBox="true"/>
          <p:nvPr/>
        </p:nvSpPr>
        <p:spPr>
          <a:xfrm rot="0">
            <a:off x="1241870" y="6334201"/>
            <a:ext cx="4806172" cy="753618"/>
          </a:xfrm>
          <a:prstGeom prst="rect">
            <a:avLst/>
          </a:prstGeom>
        </p:spPr>
        <p:txBody>
          <a:bodyPr anchor="t" rtlCol="false" tIns="0" lIns="0" bIns="0" rIns="0">
            <a:spAutoFit/>
          </a:bodyPr>
          <a:lstStyle/>
          <a:p>
            <a:pPr algn="l">
              <a:lnSpc>
                <a:spcPts val="2769"/>
              </a:lnSpc>
            </a:pPr>
            <a:r>
              <a:rPr lang="en-US" sz="1876" spc="-37">
                <a:solidFill>
                  <a:srgbClr val="272525"/>
                </a:solidFill>
                <a:latin typeface="Inter"/>
                <a:ea typeface="Inter"/>
                <a:cs typeface="Inter"/>
                <a:sym typeface="Inter"/>
              </a:rPr>
              <a:t>Analyze incidents, threats and response patterns to identify meaningful trends.</a:t>
            </a:r>
          </a:p>
        </p:txBody>
      </p:sp>
      <p:grpSp>
        <p:nvGrpSpPr>
          <p:cNvPr name="Group 24" id="24"/>
          <p:cNvGrpSpPr/>
          <p:nvPr/>
        </p:nvGrpSpPr>
        <p:grpSpPr>
          <a:xfrm rot="0">
            <a:off x="6494116" y="5595699"/>
            <a:ext cx="5313464" cy="1745780"/>
            <a:chOff x="0" y="0"/>
            <a:chExt cx="7084619" cy="2327707"/>
          </a:xfrm>
        </p:grpSpPr>
        <p:sp>
          <p:nvSpPr>
            <p:cNvPr name="Freeform 25" id="25"/>
            <p:cNvSpPr/>
            <p:nvPr/>
          </p:nvSpPr>
          <p:spPr>
            <a:xfrm flipH="false" flipV="false" rot="0">
              <a:off x="0" y="0"/>
              <a:ext cx="7084568" cy="2327656"/>
            </a:xfrm>
            <a:custGeom>
              <a:avLst/>
              <a:gdLst/>
              <a:ahLst/>
              <a:cxnLst/>
              <a:rect r="r" b="b" t="t" l="l"/>
              <a:pathLst>
                <a:path h="2327656" w="7084568">
                  <a:moveTo>
                    <a:pt x="0" y="134747"/>
                  </a:moveTo>
                  <a:cubicBezTo>
                    <a:pt x="0" y="60325"/>
                    <a:pt x="60325" y="0"/>
                    <a:pt x="134747" y="0"/>
                  </a:cubicBezTo>
                  <a:lnTo>
                    <a:pt x="6949821" y="0"/>
                  </a:lnTo>
                  <a:cubicBezTo>
                    <a:pt x="7024243" y="0"/>
                    <a:pt x="7084568" y="60325"/>
                    <a:pt x="7084568" y="134747"/>
                  </a:cubicBezTo>
                  <a:lnTo>
                    <a:pt x="7084568" y="2192909"/>
                  </a:lnTo>
                  <a:cubicBezTo>
                    <a:pt x="7084568" y="2267331"/>
                    <a:pt x="7024243" y="2327656"/>
                    <a:pt x="6949821" y="2327656"/>
                  </a:cubicBezTo>
                  <a:lnTo>
                    <a:pt x="134747" y="2327656"/>
                  </a:lnTo>
                  <a:cubicBezTo>
                    <a:pt x="60325" y="2327656"/>
                    <a:pt x="0" y="2267331"/>
                    <a:pt x="0" y="2192909"/>
                  </a:cubicBezTo>
                  <a:close/>
                </a:path>
              </a:pathLst>
            </a:custGeom>
            <a:solidFill>
              <a:srgbClr val="E0D7F4"/>
            </a:solidFill>
            <a:ln w="9532" cap="sq">
              <a:solidFill>
                <a:srgbClr val="C6BDDA"/>
              </a:solidFill>
              <a:prstDash val="solid"/>
              <a:miter/>
            </a:ln>
          </p:spPr>
        </p:sp>
      </p:grpSp>
      <p:sp>
        <p:nvSpPr>
          <p:cNvPr name="TextBox 26" id="26"/>
          <p:cNvSpPr txBox="true"/>
          <p:nvPr/>
        </p:nvSpPr>
        <p:spPr>
          <a:xfrm rot="0">
            <a:off x="6747758" y="5820775"/>
            <a:ext cx="4806172" cy="439960"/>
          </a:xfrm>
          <a:prstGeom prst="rect">
            <a:avLst/>
          </a:prstGeom>
        </p:spPr>
        <p:txBody>
          <a:bodyPr anchor="t" rtlCol="false" tIns="0" lIns="0" bIns="0" rIns="0">
            <a:spAutoFit/>
          </a:bodyPr>
          <a:lstStyle/>
          <a:p>
            <a:pPr algn="l">
              <a:lnSpc>
                <a:spcPts val="3184"/>
              </a:lnSpc>
            </a:pPr>
            <a:r>
              <a:rPr lang="en-US" b="true" sz="2551" spc="-52">
                <a:solidFill>
                  <a:srgbClr val="272525"/>
                </a:solidFill>
                <a:latin typeface="Petrona Bold"/>
                <a:ea typeface="Petrona Bold"/>
                <a:cs typeface="Petrona Bold"/>
                <a:sym typeface="Petrona Bold"/>
              </a:rPr>
              <a:t>Hotspot Detection</a:t>
            </a:r>
          </a:p>
        </p:txBody>
      </p:sp>
      <p:sp>
        <p:nvSpPr>
          <p:cNvPr name="TextBox 27" id="27"/>
          <p:cNvSpPr txBox="true"/>
          <p:nvPr/>
        </p:nvSpPr>
        <p:spPr>
          <a:xfrm rot="0">
            <a:off x="6747758" y="6334201"/>
            <a:ext cx="4806172" cy="753618"/>
          </a:xfrm>
          <a:prstGeom prst="rect">
            <a:avLst/>
          </a:prstGeom>
        </p:spPr>
        <p:txBody>
          <a:bodyPr anchor="t" rtlCol="false" tIns="0" lIns="0" bIns="0" rIns="0">
            <a:spAutoFit/>
          </a:bodyPr>
          <a:lstStyle/>
          <a:p>
            <a:pPr algn="l">
              <a:lnSpc>
                <a:spcPts val="2769"/>
              </a:lnSpc>
            </a:pPr>
            <a:r>
              <a:rPr lang="en-US" sz="1876" spc="-37">
                <a:solidFill>
                  <a:srgbClr val="272525"/>
                </a:solidFill>
                <a:latin typeface="Inter"/>
                <a:ea typeface="Inter"/>
                <a:cs typeface="Inter"/>
                <a:sym typeface="Inter"/>
              </a:rPr>
              <a:t>Detect locations and regions with elevated threat concentration or repeated incidents.</a:t>
            </a:r>
          </a:p>
        </p:txBody>
      </p:sp>
      <p:grpSp>
        <p:nvGrpSpPr>
          <p:cNvPr name="Group 28" id="28"/>
          <p:cNvGrpSpPr/>
          <p:nvPr/>
        </p:nvGrpSpPr>
        <p:grpSpPr>
          <a:xfrm rot="0">
            <a:off x="12000005" y="5595699"/>
            <a:ext cx="5313464" cy="1745780"/>
            <a:chOff x="0" y="0"/>
            <a:chExt cx="7084619" cy="2327707"/>
          </a:xfrm>
        </p:grpSpPr>
        <p:sp>
          <p:nvSpPr>
            <p:cNvPr name="Freeform 29" id="29"/>
            <p:cNvSpPr/>
            <p:nvPr/>
          </p:nvSpPr>
          <p:spPr>
            <a:xfrm flipH="false" flipV="false" rot="0">
              <a:off x="0" y="0"/>
              <a:ext cx="7084568" cy="2327656"/>
            </a:xfrm>
            <a:custGeom>
              <a:avLst/>
              <a:gdLst/>
              <a:ahLst/>
              <a:cxnLst/>
              <a:rect r="r" b="b" t="t" l="l"/>
              <a:pathLst>
                <a:path h="2327656" w="7084568">
                  <a:moveTo>
                    <a:pt x="0" y="134747"/>
                  </a:moveTo>
                  <a:cubicBezTo>
                    <a:pt x="0" y="60325"/>
                    <a:pt x="60325" y="0"/>
                    <a:pt x="134747" y="0"/>
                  </a:cubicBezTo>
                  <a:lnTo>
                    <a:pt x="6949821" y="0"/>
                  </a:lnTo>
                  <a:cubicBezTo>
                    <a:pt x="7024243" y="0"/>
                    <a:pt x="7084568" y="60325"/>
                    <a:pt x="7084568" y="134747"/>
                  </a:cubicBezTo>
                  <a:lnTo>
                    <a:pt x="7084568" y="2192909"/>
                  </a:lnTo>
                  <a:cubicBezTo>
                    <a:pt x="7084568" y="2267331"/>
                    <a:pt x="7024243" y="2327656"/>
                    <a:pt x="6949821" y="2327656"/>
                  </a:cubicBezTo>
                  <a:lnTo>
                    <a:pt x="134747" y="2327656"/>
                  </a:lnTo>
                  <a:cubicBezTo>
                    <a:pt x="60325" y="2327656"/>
                    <a:pt x="0" y="2267331"/>
                    <a:pt x="0" y="2192909"/>
                  </a:cubicBezTo>
                  <a:close/>
                </a:path>
              </a:pathLst>
            </a:custGeom>
            <a:solidFill>
              <a:srgbClr val="E0D7F4"/>
            </a:solidFill>
            <a:ln w="9532" cap="sq">
              <a:solidFill>
                <a:srgbClr val="C6BDDA"/>
              </a:solidFill>
              <a:prstDash val="solid"/>
              <a:miter/>
            </a:ln>
          </p:spPr>
        </p:sp>
      </p:grpSp>
      <p:sp>
        <p:nvSpPr>
          <p:cNvPr name="TextBox 30" id="30"/>
          <p:cNvSpPr txBox="true"/>
          <p:nvPr/>
        </p:nvSpPr>
        <p:spPr>
          <a:xfrm rot="0">
            <a:off x="12253655" y="5820775"/>
            <a:ext cx="4806172" cy="439960"/>
          </a:xfrm>
          <a:prstGeom prst="rect">
            <a:avLst/>
          </a:prstGeom>
        </p:spPr>
        <p:txBody>
          <a:bodyPr anchor="t" rtlCol="false" tIns="0" lIns="0" bIns="0" rIns="0">
            <a:spAutoFit/>
          </a:bodyPr>
          <a:lstStyle/>
          <a:p>
            <a:pPr algn="l">
              <a:lnSpc>
                <a:spcPts val="3184"/>
              </a:lnSpc>
            </a:pPr>
            <a:r>
              <a:rPr lang="en-US" b="true" sz="2551" spc="-52">
                <a:solidFill>
                  <a:srgbClr val="272525"/>
                </a:solidFill>
                <a:latin typeface="Petrona Bold"/>
                <a:ea typeface="Petrona Bold"/>
                <a:cs typeface="Petrona Bold"/>
                <a:sym typeface="Petrona Bold"/>
              </a:rPr>
              <a:t>Environmental &amp; Temporal</a:t>
            </a:r>
          </a:p>
        </p:txBody>
      </p:sp>
      <p:sp>
        <p:nvSpPr>
          <p:cNvPr name="TextBox 31" id="31"/>
          <p:cNvSpPr txBox="true"/>
          <p:nvPr/>
        </p:nvSpPr>
        <p:spPr>
          <a:xfrm rot="0">
            <a:off x="12253655" y="6334201"/>
            <a:ext cx="4806172" cy="753618"/>
          </a:xfrm>
          <a:prstGeom prst="rect">
            <a:avLst/>
          </a:prstGeom>
        </p:spPr>
        <p:txBody>
          <a:bodyPr anchor="t" rtlCol="false" tIns="0" lIns="0" bIns="0" rIns="0">
            <a:spAutoFit/>
          </a:bodyPr>
          <a:lstStyle/>
          <a:p>
            <a:pPr algn="l">
              <a:lnSpc>
                <a:spcPts val="2769"/>
              </a:lnSpc>
            </a:pPr>
            <a:r>
              <a:rPr lang="en-US" sz="1876" spc="-37">
                <a:solidFill>
                  <a:srgbClr val="272525"/>
                </a:solidFill>
                <a:latin typeface="Inter"/>
                <a:ea typeface="Inter"/>
                <a:cs typeface="Inter"/>
                <a:sym typeface="Inter"/>
              </a:rPr>
              <a:t>Assess environmental conditions and time-based patterns that influence threat activity.</a:t>
            </a:r>
          </a:p>
        </p:txBody>
      </p:sp>
      <p:grpSp>
        <p:nvGrpSpPr>
          <p:cNvPr name="Group 32" id="32"/>
          <p:cNvGrpSpPr/>
          <p:nvPr/>
        </p:nvGrpSpPr>
        <p:grpSpPr>
          <a:xfrm rot="0">
            <a:off x="988219" y="7533913"/>
            <a:ext cx="8066332" cy="1745780"/>
            <a:chOff x="0" y="0"/>
            <a:chExt cx="10755109" cy="2327707"/>
          </a:xfrm>
        </p:grpSpPr>
        <p:sp>
          <p:nvSpPr>
            <p:cNvPr name="Freeform 33" id="33"/>
            <p:cNvSpPr/>
            <p:nvPr/>
          </p:nvSpPr>
          <p:spPr>
            <a:xfrm flipH="false" flipV="false" rot="0">
              <a:off x="0" y="0"/>
              <a:ext cx="10755122" cy="2327656"/>
            </a:xfrm>
            <a:custGeom>
              <a:avLst/>
              <a:gdLst/>
              <a:ahLst/>
              <a:cxnLst/>
              <a:rect r="r" b="b" t="t" l="l"/>
              <a:pathLst>
                <a:path h="2327656" w="10755122">
                  <a:moveTo>
                    <a:pt x="0" y="134747"/>
                  </a:moveTo>
                  <a:cubicBezTo>
                    <a:pt x="0" y="60325"/>
                    <a:pt x="60325" y="0"/>
                    <a:pt x="134747" y="0"/>
                  </a:cubicBezTo>
                  <a:lnTo>
                    <a:pt x="10620375" y="0"/>
                  </a:lnTo>
                  <a:cubicBezTo>
                    <a:pt x="10694797" y="0"/>
                    <a:pt x="10755122" y="60325"/>
                    <a:pt x="10755122" y="134747"/>
                  </a:cubicBezTo>
                  <a:lnTo>
                    <a:pt x="10755122" y="2192909"/>
                  </a:lnTo>
                  <a:cubicBezTo>
                    <a:pt x="10755122" y="2267331"/>
                    <a:pt x="10694797" y="2327656"/>
                    <a:pt x="10620375" y="2327656"/>
                  </a:cubicBezTo>
                  <a:lnTo>
                    <a:pt x="134747" y="2327656"/>
                  </a:lnTo>
                  <a:cubicBezTo>
                    <a:pt x="60325" y="2327656"/>
                    <a:pt x="0" y="2267331"/>
                    <a:pt x="0" y="2192909"/>
                  </a:cubicBezTo>
                  <a:close/>
                </a:path>
              </a:pathLst>
            </a:custGeom>
            <a:solidFill>
              <a:srgbClr val="E0D7F4"/>
            </a:solidFill>
            <a:ln w="9532" cap="sq">
              <a:solidFill>
                <a:srgbClr val="C6BDDA"/>
              </a:solidFill>
              <a:prstDash val="solid"/>
              <a:miter/>
            </a:ln>
          </p:spPr>
        </p:sp>
      </p:grpSp>
      <p:sp>
        <p:nvSpPr>
          <p:cNvPr name="TextBox 34" id="34"/>
          <p:cNvSpPr txBox="true"/>
          <p:nvPr/>
        </p:nvSpPr>
        <p:spPr>
          <a:xfrm rot="0">
            <a:off x="1241870" y="7758989"/>
            <a:ext cx="7559040" cy="439960"/>
          </a:xfrm>
          <a:prstGeom prst="rect">
            <a:avLst/>
          </a:prstGeom>
        </p:spPr>
        <p:txBody>
          <a:bodyPr anchor="t" rtlCol="false" tIns="0" lIns="0" bIns="0" rIns="0">
            <a:spAutoFit/>
          </a:bodyPr>
          <a:lstStyle/>
          <a:p>
            <a:pPr algn="l">
              <a:lnSpc>
                <a:spcPts val="3184"/>
              </a:lnSpc>
            </a:pPr>
            <a:r>
              <a:rPr lang="en-US" b="true" sz="2551" spc="-52">
                <a:solidFill>
                  <a:srgbClr val="272525"/>
                </a:solidFill>
                <a:latin typeface="Petrona Bold"/>
                <a:ea typeface="Petrona Bold"/>
                <a:cs typeface="Petrona Bold"/>
                <a:sym typeface="Petrona Bold"/>
              </a:rPr>
              <a:t>Response &amp; Risk</a:t>
            </a:r>
          </a:p>
        </p:txBody>
      </p:sp>
      <p:sp>
        <p:nvSpPr>
          <p:cNvPr name="TextBox 35" id="35"/>
          <p:cNvSpPr txBox="true"/>
          <p:nvPr/>
        </p:nvSpPr>
        <p:spPr>
          <a:xfrm rot="0">
            <a:off x="1241870" y="8272415"/>
            <a:ext cx="7559040" cy="753618"/>
          </a:xfrm>
          <a:prstGeom prst="rect">
            <a:avLst/>
          </a:prstGeom>
        </p:spPr>
        <p:txBody>
          <a:bodyPr anchor="t" rtlCol="false" tIns="0" lIns="0" bIns="0" rIns="0">
            <a:spAutoFit/>
          </a:bodyPr>
          <a:lstStyle/>
          <a:p>
            <a:pPr algn="l">
              <a:lnSpc>
                <a:spcPts val="2769"/>
              </a:lnSpc>
            </a:pPr>
            <a:r>
              <a:rPr lang="en-US" sz="1876" spc="-37">
                <a:solidFill>
                  <a:srgbClr val="272525"/>
                </a:solidFill>
                <a:latin typeface="Inter"/>
                <a:ea typeface="Inter"/>
                <a:cs typeface="Inter"/>
                <a:sym typeface="Inter"/>
              </a:rPr>
              <a:t>Evaluate response effectiveness and quantify risk to improve operational readiness.</a:t>
            </a:r>
          </a:p>
        </p:txBody>
      </p:sp>
      <p:grpSp>
        <p:nvGrpSpPr>
          <p:cNvPr name="Group 36" id="36"/>
          <p:cNvGrpSpPr/>
          <p:nvPr/>
        </p:nvGrpSpPr>
        <p:grpSpPr>
          <a:xfrm rot="0">
            <a:off x="9246984" y="7533913"/>
            <a:ext cx="8066484" cy="1745780"/>
            <a:chOff x="0" y="0"/>
            <a:chExt cx="10755312" cy="2327707"/>
          </a:xfrm>
        </p:grpSpPr>
        <p:sp>
          <p:nvSpPr>
            <p:cNvPr name="Freeform 37" id="37"/>
            <p:cNvSpPr/>
            <p:nvPr/>
          </p:nvSpPr>
          <p:spPr>
            <a:xfrm flipH="false" flipV="false" rot="0">
              <a:off x="0" y="0"/>
              <a:ext cx="10755249" cy="2327656"/>
            </a:xfrm>
            <a:custGeom>
              <a:avLst/>
              <a:gdLst/>
              <a:ahLst/>
              <a:cxnLst/>
              <a:rect r="r" b="b" t="t" l="l"/>
              <a:pathLst>
                <a:path h="2327656" w="10755249">
                  <a:moveTo>
                    <a:pt x="0" y="134747"/>
                  </a:moveTo>
                  <a:cubicBezTo>
                    <a:pt x="0" y="60325"/>
                    <a:pt x="60325" y="0"/>
                    <a:pt x="134747" y="0"/>
                  </a:cubicBezTo>
                  <a:lnTo>
                    <a:pt x="10620502" y="0"/>
                  </a:lnTo>
                  <a:cubicBezTo>
                    <a:pt x="10694924" y="0"/>
                    <a:pt x="10755249" y="60325"/>
                    <a:pt x="10755249" y="134747"/>
                  </a:cubicBezTo>
                  <a:lnTo>
                    <a:pt x="10755249" y="2192909"/>
                  </a:lnTo>
                  <a:cubicBezTo>
                    <a:pt x="10755249" y="2267331"/>
                    <a:pt x="10694924" y="2327656"/>
                    <a:pt x="10620502" y="2327656"/>
                  </a:cubicBezTo>
                  <a:lnTo>
                    <a:pt x="134747" y="2327656"/>
                  </a:lnTo>
                  <a:cubicBezTo>
                    <a:pt x="60325" y="2327656"/>
                    <a:pt x="0" y="2267331"/>
                    <a:pt x="0" y="2192909"/>
                  </a:cubicBezTo>
                  <a:close/>
                </a:path>
              </a:pathLst>
            </a:custGeom>
            <a:solidFill>
              <a:srgbClr val="E0D7F4"/>
            </a:solidFill>
            <a:ln w="9532" cap="sq">
              <a:solidFill>
                <a:srgbClr val="C6BDDA"/>
              </a:solidFill>
              <a:prstDash val="solid"/>
              <a:miter/>
            </a:ln>
          </p:spPr>
        </p:sp>
      </p:grpSp>
      <p:sp>
        <p:nvSpPr>
          <p:cNvPr name="TextBox 38" id="38"/>
          <p:cNvSpPr txBox="true"/>
          <p:nvPr/>
        </p:nvSpPr>
        <p:spPr>
          <a:xfrm rot="0">
            <a:off x="9500635" y="7758989"/>
            <a:ext cx="7559192" cy="439960"/>
          </a:xfrm>
          <a:prstGeom prst="rect">
            <a:avLst/>
          </a:prstGeom>
        </p:spPr>
        <p:txBody>
          <a:bodyPr anchor="t" rtlCol="false" tIns="0" lIns="0" bIns="0" rIns="0">
            <a:spAutoFit/>
          </a:bodyPr>
          <a:lstStyle/>
          <a:p>
            <a:pPr algn="l">
              <a:lnSpc>
                <a:spcPts val="3184"/>
              </a:lnSpc>
            </a:pPr>
            <a:r>
              <a:rPr lang="en-US" b="true" sz="2551" spc="-52">
                <a:solidFill>
                  <a:srgbClr val="272525"/>
                </a:solidFill>
                <a:latin typeface="Petrona Bold"/>
                <a:ea typeface="Petrona Bold"/>
                <a:cs typeface="Petrona Bold"/>
                <a:sym typeface="Petrona Bold"/>
              </a:rPr>
              <a:t>Executive Insights</a:t>
            </a:r>
          </a:p>
        </p:txBody>
      </p:sp>
      <p:sp>
        <p:nvSpPr>
          <p:cNvPr name="TextBox 39" id="39"/>
          <p:cNvSpPr txBox="true"/>
          <p:nvPr/>
        </p:nvSpPr>
        <p:spPr>
          <a:xfrm rot="0">
            <a:off x="9500635" y="8272415"/>
            <a:ext cx="7559192" cy="753618"/>
          </a:xfrm>
          <a:prstGeom prst="rect">
            <a:avLst/>
          </a:prstGeom>
        </p:spPr>
        <p:txBody>
          <a:bodyPr anchor="t" rtlCol="false" tIns="0" lIns="0" bIns="0" rIns="0">
            <a:spAutoFit/>
          </a:bodyPr>
          <a:lstStyle/>
          <a:p>
            <a:pPr algn="l">
              <a:lnSpc>
                <a:spcPts val="2769"/>
              </a:lnSpc>
            </a:pPr>
            <a:r>
              <a:rPr lang="en-US" sz="1876" spc="-37">
                <a:solidFill>
                  <a:srgbClr val="272525"/>
                </a:solidFill>
                <a:latin typeface="Inter"/>
                <a:ea typeface="Inter"/>
                <a:cs typeface="Inter"/>
                <a:sym typeface="Inter"/>
              </a:rPr>
              <a:t>Deliver clear, actionable insights for leadership and strategic decision-making.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1890299" y="1529591"/>
            <a:ext cx="9621639" cy="944013"/>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Aptos Bold"/>
                <a:ea typeface="Aptos Bold"/>
                <a:cs typeface="Aptos Bold"/>
                <a:sym typeface="Aptos Bold"/>
              </a:rPr>
              <a:t>Data Preparation &amp; Modeling</a:t>
            </a:r>
          </a:p>
        </p:txBody>
      </p:sp>
      <p:sp>
        <p:nvSpPr>
          <p:cNvPr name="TextBox 7" id="7"/>
          <p:cNvSpPr txBox="true"/>
          <p:nvPr/>
        </p:nvSpPr>
        <p:spPr>
          <a:xfrm rot="0">
            <a:off x="1890299" y="3122500"/>
            <a:ext cx="10549489" cy="3231389"/>
          </a:xfrm>
          <a:prstGeom prst="rect">
            <a:avLst/>
          </a:prstGeom>
        </p:spPr>
        <p:txBody>
          <a:bodyPr anchor="t" rtlCol="false" tIns="0" lIns="0" bIns="0" rIns="0">
            <a:spAutoFit/>
          </a:bodyPr>
          <a:lstStyle/>
          <a:p>
            <a:pPr algn="l">
              <a:lnSpc>
                <a:spcPts val="5172"/>
              </a:lnSpc>
            </a:pPr>
            <a:r>
              <a:rPr lang="en-US" sz="3241" spc="-67">
                <a:solidFill>
                  <a:srgbClr val="272525"/>
                </a:solidFill>
                <a:latin typeface="Aptos"/>
                <a:ea typeface="Aptos"/>
                <a:cs typeface="Aptos"/>
                <a:sym typeface="Aptos"/>
              </a:rPr>
              <a:t>Processed in Power Query: removed unnecessary fields, fixed data types, cleaned invalid values, organised incident, location, environmental and response data. Built relationships, calculated columns and reusable DAX measures.</a:t>
            </a:r>
          </a:p>
        </p:txBody>
      </p:sp>
      <p:sp>
        <p:nvSpPr>
          <p:cNvPr name="TextBox 8" id="8"/>
          <p:cNvSpPr txBox="true"/>
          <p:nvPr/>
        </p:nvSpPr>
        <p:spPr>
          <a:xfrm rot="0">
            <a:off x="1890299" y="7001588"/>
            <a:ext cx="10087392" cy="599054"/>
          </a:xfrm>
          <a:prstGeom prst="rect">
            <a:avLst/>
          </a:prstGeom>
        </p:spPr>
        <p:txBody>
          <a:bodyPr anchor="t" rtlCol="false" tIns="0" lIns="0" bIns="0" rIns="0">
            <a:spAutoFit/>
          </a:bodyPr>
          <a:lstStyle/>
          <a:p>
            <a:pPr algn="l">
              <a:lnSpc>
                <a:spcPts val="5171"/>
              </a:lnSpc>
            </a:pPr>
            <a:r>
              <a:rPr lang="en-US" sz="3240" spc="-67">
                <a:solidFill>
                  <a:srgbClr val="272525"/>
                </a:solidFill>
                <a:latin typeface="Aptos"/>
                <a:ea typeface="Aptos"/>
                <a:cs typeface="Aptos"/>
                <a:sym typeface="Aptos"/>
              </a:rPr>
              <a:t>Prepared dataset feeds interactive dashboards and KPIs.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43432" y="1705357"/>
            <a:ext cx="16315868" cy="1915563"/>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Threat Classification &amp; Severity Analytics Dashboard</a:t>
            </a:r>
          </a:p>
        </p:txBody>
      </p:sp>
      <p:sp>
        <p:nvSpPr>
          <p:cNvPr name="TextBox 7" id="7"/>
          <p:cNvSpPr txBox="true"/>
          <p:nvPr/>
        </p:nvSpPr>
        <p:spPr>
          <a:xfrm rot="0">
            <a:off x="943432" y="4403588"/>
            <a:ext cx="16315868" cy="2773465"/>
          </a:xfrm>
          <a:prstGeom prst="rect">
            <a:avLst/>
          </a:prstGeom>
        </p:spPr>
        <p:txBody>
          <a:bodyPr anchor="t" rtlCol="false" tIns="0" lIns="0" bIns="0" rIns="0">
            <a:spAutoFit/>
          </a:bodyPr>
          <a:lstStyle/>
          <a:p>
            <a:pPr algn="l">
              <a:lnSpc>
                <a:spcPts val="4480"/>
              </a:lnSpc>
            </a:pPr>
            <a:r>
              <a:rPr lang="en-US" sz="2807" spc="-56">
                <a:solidFill>
                  <a:srgbClr val="272525"/>
                </a:solidFill>
                <a:latin typeface="Inter"/>
                <a:ea typeface="Inter"/>
                <a:cs typeface="Inter"/>
                <a:sym typeface="Inter"/>
              </a:rPr>
              <a:t>       </a:t>
            </a:r>
            <a:r>
              <a:rPr lang="en-US" b="true" sz="2807" spc="-56">
                <a:solidFill>
                  <a:srgbClr val="272525"/>
                </a:solidFill>
                <a:latin typeface="Inter Bold"/>
                <a:ea typeface="Inter Bold"/>
                <a:cs typeface="Inter Bold"/>
                <a:sym typeface="Inter Bold"/>
              </a:rPr>
              <a:t>What it shows:</a:t>
            </a:r>
            <a:r>
              <a:rPr lang="en-US" sz="2807" spc="-56">
                <a:solidFill>
                  <a:srgbClr val="272525"/>
                </a:solidFill>
                <a:latin typeface="Inter"/>
                <a:ea typeface="Inter"/>
                <a:cs typeface="Inter"/>
                <a:sym typeface="Inter"/>
              </a:rPr>
              <a:t>       Identifies most common threat categories, severity distribution, locations  with high incident activity, and changes in incident activity over time.     </a:t>
            </a:r>
          </a:p>
          <a:p>
            <a:pPr algn="l">
              <a:lnSpc>
                <a:spcPts val="4480"/>
              </a:lnSpc>
            </a:pPr>
          </a:p>
          <a:p>
            <a:pPr algn="l">
              <a:lnSpc>
                <a:spcPts val="4480"/>
              </a:lnSpc>
            </a:pPr>
            <a:r>
              <a:rPr lang="en-US" sz="2807" spc="-58">
                <a:solidFill>
                  <a:srgbClr val="272525"/>
                </a:solidFill>
                <a:latin typeface="Inter"/>
                <a:ea typeface="Inter"/>
                <a:cs typeface="Inter"/>
                <a:sym typeface="Inter"/>
              </a:rPr>
              <a:t>       </a:t>
            </a:r>
            <a:r>
              <a:rPr lang="en-US" b="true" sz="2807" spc="-58">
                <a:solidFill>
                  <a:srgbClr val="272525"/>
                </a:solidFill>
                <a:latin typeface="Inter Bold"/>
                <a:ea typeface="Inter Bold"/>
                <a:cs typeface="Inter Bold"/>
                <a:sym typeface="Inter Bold"/>
              </a:rPr>
              <a:t>Purpose:</a:t>
            </a:r>
            <a:r>
              <a:rPr lang="en-US" sz="2807" spc="-58">
                <a:solidFill>
                  <a:srgbClr val="272525"/>
                </a:solidFill>
                <a:latin typeface="Inter"/>
                <a:ea typeface="Inter"/>
                <a:cs typeface="Inter"/>
                <a:sym typeface="Inter"/>
              </a:rPr>
              <a:t>       Provides basic understanding of the threat environment by analysing  incident categories and severity.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92991" y="1542040"/>
            <a:ext cx="16315868" cy="1915563"/>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Geospatial Intelligence &amp; Environmental Factors</a:t>
            </a:r>
          </a:p>
        </p:txBody>
      </p:sp>
      <p:sp>
        <p:nvSpPr>
          <p:cNvPr name="TextBox 7" id="7"/>
          <p:cNvSpPr txBox="true"/>
          <p:nvPr/>
        </p:nvSpPr>
        <p:spPr>
          <a:xfrm rot="0">
            <a:off x="992991" y="4211422"/>
            <a:ext cx="5763617" cy="467473"/>
          </a:xfrm>
          <a:prstGeom prst="rect">
            <a:avLst/>
          </a:prstGeom>
        </p:spPr>
        <p:txBody>
          <a:bodyPr anchor="t" rtlCol="false" tIns="0" lIns="0" bIns="0" rIns="0">
            <a:spAutoFit/>
          </a:bodyPr>
          <a:lstStyle/>
          <a:p>
            <a:pPr algn="l">
              <a:lnSpc>
                <a:spcPts val="3746"/>
              </a:lnSpc>
            </a:pPr>
            <a:r>
              <a:rPr lang="en-US" b="true" sz="3002" spc="-61">
                <a:solidFill>
                  <a:srgbClr val="000000"/>
                </a:solidFill>
                <a:latin typeface="Petrona Bold"/>
                <a:ea typeface="Petrona Bold"/>
                <a:cs typeface="Petrona Bold"/>
                <a:sym typeface="Petrona Bold"/>
              </a:rPr>
              <a:t>Geospatial Intelligence Dashboard</a:t>
            </a:r>
          </a:p>
        </p:txBody>
      </p:sp>
      <p:sp>
        <p:nvSpPr>
          <p:cNvPr name="TextBox 8" id="8"/>
          <p:cNvSpPr txBox="true"/>
          <p:nvPr/>
        </p:nvSpPr>
        <p:spPr>
          <a:xfrm rot="0">
            <a:off x="992991" y="4906756"/>
            <a:ext cx="7811795" cy="2403424"/>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Identifies where incidents occur and highlights geographical hotspots with interactive maps, hotspot clustering, and risk-surface analysis.</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Enables users to understand incident distribution geographically and identify high-risk zones.</a:t>
            </a:r>
          </a:p>
        </p:txBody>
      </p:sp>
      <p:sp>
        <p:nvSpPr>
          <p:cNvPr name="TextBox 9" id="9"/>
          <p:cNvSpPr txBox="true"/>
          <p:nvPr/>
        </p:nvSpPr>
        <p:spPr>
          <a:xfrm rot="0">
            <a:off x="9506588" y="4211422"/>
            <a:ext cx="7811795" cy="467473"/>
          </a:xfrm>
          <a:prstGeom prst="rect">
            <a:avLst/>
          </a:prstGeom>
        </p:spPr>
        <p:txBody>
          <a:bodyPr anchor="t" rtlCol="false" tIns="0" lIns="0" bIns="0" rIns="0">
            <a:spAutoFit/>
          </a:bodyPr>
          <a:lstStyle/>
          <a:p>
            <a:pPr algn="l">
              <a:lnSpc>
                <a:spcPts val="3746"/>
              </a:lnSpc>
            </a:pPr>
            <a:r>
              <a:rPr lang="en-US" b="true" sz="3002" spc="-61">
                <a:solidFill>
                  <a:srgbClr val="000000"/>
                </a:solidFill>
                <a:latin typeface="Petrona Bold"/>
                <a:ea typeface="Petrona Bold"/>
                <a:cs typeface="Petrona Bold"/>
                <a:sym typeface="Petrona Bold"/>
              </a:rPr>
              <a:t>Environmental Factors &amp; Effective Analytics</a:t>
            </a:r>
          </a:p>
        </p:txBody>
      </p:sp>
      <p:sp>
        <p:nvSpPr>
          <p:cNvPr name="TextBox 10" id="10"/>
          <p:cNvSpPr txBox="true"/>
          <p:nvPr/>
        </p:nvSpPr>
        <p:spPr>
          <a:xfrm rot="0">
            <a:off x="9506588" y="4906756"/>
            <a:ext cx="7811795" cy="2889199"/>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Analyzes environmental and situational factors associated with incident activity and operational performance.</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Helps stakeholders understand how incident activity and response performance vary under different environmental conditions.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73926" y="1381604"/>
            <a:ext cx="12038013" cy="953538"/>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Location Details &amp; Location Tooltip</a:t>
            </a:r>
          </a:p>
        </p:txBody>
      </p:sp>
      <p:grpSp>
        <p:nvGrpSpPr>
          <p:cNvPr name="Group 7" id="7"/>
          <p:cNvGrpSpPr/>
          <p:nvPr/>
        </p:nvGrpSpPr>
        <p:grpSpPr>
          <a:xfrm rot="0">
            <a:off x="973926" y="3869641"/>
            <a:ext cx="8054121" cy="4688024"/>
            <a:chOff x="0" y="0"/>
            <a:chExt cx="10738828" cy="6250699"/>
          </a:xfrm>
        </p:grpSpPr>
        <p:sp>
          <p:nvSpPr>
            <p:cNvPr name="Freeform 8" id="8"/>
            <p:cNvSpPr/>
            <p:nvPr/>
          </p:nvSpPr>
          <p:spPr>
            <a:xfrm flipH="false" flipV="false" rot="0">
              <a:off x="0" y="0"/>
              <a:ext cx="10738739" cy="6250686"/>
            </a:xfrm>
            <a:custGeom>
              <a:avLst/>
              <a:gdLst/>
              <a:ahLst/>
              <a:cxnLst/>
              <a:rect r="r" b="b" t="t" l="l"/>
              <a:pathLst>
                <a:path h="6250686" w="10738739">
                  <a:moveTo>
                    <a:pt x="0" y="160147"/>
                  </a:moveTo>
                  <a:cubicBezTo>
                    <a:pt x="0" y="71755"/>
                    <a:pt x="71755" y="0"/>
                    <a:pt x="160147" y="0"/>
                  </a:cubicBezTo>
                  <a:lnTo>
                    <a:pt x="10578592" y="0"/>
                  </a:lnTo>
                  <a:cubicBezTo>
                    <a:pt x="10667111" y="0"/>
                    <a:pt x="10738739" y="71755"/>
                    <a:pt x="10738739" y="160147"/>
                  </a:cubicBezTo>
                  <a:lnTo>
                    <a:pt x="10738739" y="6090539"/>
                  </a:lnTo>
                  <a:cubicBezTo>
                    <a:pt x="10738739" y="6179058"/>
                    <a:pt x="10666985" y="6250686"/>
                    <a:pt x="10578592" y="6250686"/>
                  </a:cubicBezTo>
                  <a:lnTo>
                    <a:pt x="160147" y="6250686"/>
                  </a:lnTo>
                  <a:cubicBezTo>
                    <a:pt x="71755" y="6250686"/>
                    <a:pt x="0" y="6178931"/>
                    <a:pt x="0" y="6090539"/>
                  </a:cubicBezTo>
                  <a:close/>
                </a:path>
              </a:pathLst>
            </a:custGeom>
            <a:solidFill>
              <a:srgbClr val="FDFAF7"/>
            </a:solidFill>
            <a:ln w="38128" cap="sq">
              <a:solidFill>
                <a:srgbClr val="C6BDDA"/>
              </a:solidFill>
              <a:prstDash val="solid"/>
              <a:miter/>
            </a:ln>
          </p:spPr>
        </p:sp>
      </p:grpSp>
      <p:sp>
        <p:nvSpPr>
          <p:cNvPr name="TextBox 9" id="9"/>
          <p:cNvSpPr txBox="true"/>
          <p:nvPr/>
        </p:nvSpPr>
        <p:spPr>
          <a:xfrm rot="0">
            <a:off x="1314850" y="3896697"/>
            <a:ext cx="4643735" cy="467473"/>
          </a:xfrm>
          <a:prstGeom prst="rect">
            <a:avLst/>
          </a:prstGeom>
        </p:spPr>
        <p:txBody>
          <a:bodyPr anchor="t" rtlCol="false" tIns="0" lIns="0" bIns="0" rIns="0">
            <a:spAutoFit/>
          </a:bodyPr>
          <a:lstStyle/>
          <a:p>
            <a:pPr algn="l">
              <a:lnSpc>
                <a:spcPts val="3746"/>
              </a:lnSpc>
            </a:pPr>
            <a:r>
              <a:rPr lang="en-US" b="true" sz="3002" spc="-61">
                <a:solidFill>
                  <a:srgbClr val="000000"/>
                </a:solidFill>
                <a:latin typeface="Petrona Bold"/>
                <a:ea typeface="Petrona Bold"/>
                <a:cs typeface="Petrona Bold"/>
                <a:sym typeface="Petrona Bold"/>
              </a:rPr>
              <a:t>Location Details Dashboard</a:t>
            </a:r>
          </a:p>
        </p:txBody>
      </p:sp>
      <p:sp>
        <p:nvSpPr>
          <p:cNvPr name="TextBox 10" id="10"/>
          <p:cNvSpPr txBox="true"/>
          <p:nvPr/>
        </p:nvSpPr>
        <p:spPr>
          <a:xfrm rot="0">
            <a:off x="1314850" y="4478541"/>
            <a:ext cx="7372274" cy="3374974"/>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Provides detailed information about a selected location through drill-through feature.</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Enables deeper analysis of specific locations without overcrowding the main dashboard. Users can select a location from Geospatial dashboard and drill-through to Location Details for comprehensive location-specific insights.</a:t>
            </a:r>
          </a:p>
        </p:txBody>
      </p:sp>
      <p:grpSp>
        <p:nvGrpSpPr>
          <p:cNvPr name="Group 11" id="11"/>
          <p:cNvGrpSpPr/>
          <p:nvPr/>
        </p:nvGrpSpPr>
        <p:grpSpPr>
          <a:xfrm rot="0">
            <a:off x="9273645" y="3869641"/>
            <a:ext cx="8054273" cy="4688024"/>
            <a:chOff x="0" y="0"/>
            <a:chExt cx="10739031" cy="6250699"/>
          </a:xfrm>
        </p:grpSpPr>
        <p:sp>
          <p:nvSpPr>
            <p:cNvPr name="Freeform 12" id="12"/>
            <p:cNvSpPr/>
            <p:nvPr/>
          </p:nvSpPr>
          <p:spPr>
            <a:xfrm flipH="false" flipV="false" rot="0">
              <a:off x="0" y="0"/>
              <a:ext cx="10738993" cy="6250686"/>
            </a:xfrm>
            <a:custGeom>
              <a:avLst/>
              <a:gdLst/>
              <a:ahLst/>
              <a:cxnLst/>
              <a:rect r="r" b="b" t="t" l="l"/>
              <a:pathLst>
                <a:path h="6250686" w="10738993">
                  <a:moveTo>
                    <a:pt x="0" y="160147"/>
                  </a:moveTo>
                  <a:cubicBezTo>
                    <a:pt x="0" y="71755"/>
                    <a:pt x="71755" y="0"/>
                    <a:pt x="160147" y="0"/>
                  </a:cubicBezTo>
                  <a:lnTo>
                    <a:pt x="10578846" y="0"/>
                  </a:lnTo>
                  <a:cubicBezTo>
                    <a:pt x="10667364" y="0"/>
                    <a:pt x="10738993" y="71755"/>
                    <a:pt x="10738993" y="160147"/>
                  </a:cubicBezTo>
                  <a:lnTo>
                    <a:pt x="10738993" y="6090539"/>
                  </a:lnTo>
                  <a:cubicBezTo>
                    <a:pt x="10738993" y="6179058"/>
                    <a:pt x="10667238" y="6250686"/>
                    <a:pt x="10578846" y="6250686"/>
                  </a:cubicBezTo>
                  <a:lnTo>
                    <a:pt x="160147" y="6250686"/>
                  </a:lnTo>
                  <a:cubicBezTo>
                    <a:pt x="71755" y="6250686"/>
                    <a:pt x="0" y="6178931"/>
                    <a:pt x="0" y="6090539"/>
                  </a:cubicBezTo>
                  <a:close/>
                </a:path>
              </a:pathLst>
            </a:custGeom>
            <a:solidFill>
              <a:srgbClr val="FDFAF7"/>
            </a:solidFill>
            <a:ln w="38128" cap="sq">
              <a:solidFill>
                <a:srgbClr val="C6BDDA"/>
              </a:solidFill>
              <a:prstDash val="solid"/>
              <a:miter/>
            </a:ln>
          </p:spPr>
        </p:sp>
      </p:grpSp>
      <p:sp>
        <p:nvSpPr>
          <p:cNvPr name="TextBox 13" id="13"/>
          <p:cNvSpPr txBox="true"/>
          <p:nvPr/>
        </p:nvSpPr>
        <p:spPr>
          <a:xfrm rot="0">
            <a:off x="9614573" y="3896697"/>
            <a:ext cx="2780903" cy="467473"/>
          </a:xfrm>
          <a:prstGeom prst="rect">
            <a:avLst/>
          </a:prstGeom>
        </p:spPr>
        <p:txBody>
          <a:bodyPr anchor="t" rtlCol="false" tIns="0" lIns="0" bIns="0" rIns="0">
            <a:spAutoFit/>
          </a:bodyPr>
          <a:lstStyle/>
          <a:p>
            <a:pPr algn="l">
              <a:lnSpc>
                <a:spcPts val="3746"/>
              </a:lnSpc>
            </a:pPr>
            <a:r>
              <a:rPr lang="en-US" b="true" sz="3002" spc="-61">
                <a:solidFill>
                  <a:srgbClr val="000000"/>
                </a:solidFill>
                <a:latin typeface="Petrona Bold"/>
                <a:ea typeface="Petrona Bold"/>
                <a:cs typeface="Petrona Bold"/>
                <a:sym typeface="Petrona Bold"/>
              </a:rPr>
              <a:t>Location Tooltip</a:t>
            </a:r>
          </a:p>
        </p:txBody>
      </p:sp>
      <p:sp>
        <p:nvSpPr>
          <p:cNvPr name="TextBox 14" id="14"/>
          <p:cNvSpPr txBox="true"/>
          <p:nvPr/>
        </p:nvSpPr>
        <p:spPr>
          <a:xfrm rot="0">
            <a:off x="9614573" y="4478541"/>
            <a:ext cx="7372417" cy="3374974"/>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Displays Total Incidents, Threat Severity Index, Average Response Time, and Total Injuries when hovering over locations on the map.</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Provides additional contextual information simply by hovering, allowing users to obtain detailed information without leaving the Geospatial Intelligence page.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92991" y="1559023"/>
            <a:ext cx="16315868" cy="1915563"/>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Temporal Incident Analytics &amp; Correlation Analysis</a:t>
            </a:r>
          </a:p>
        </p:txBody>
      </p:sp>
      <p:sp>
        <p:nvSpPr>
          <p:cNvPr name="TextBox 7" id="7"/>
          <p:cNvSpPr txBox="true"/>
          <p:nvPr/>
        </p:nvSpPr>
        <p:spPr>
          <a:xfrm rot="0">
            <a:off x="992991" y="4228395"/>
            <a:ext cx="6719094" cy="467473"/>
          </a:xfrm>
          <a:prstGeom prst="rect">
            <a:avLst/>
          </a:prstGeom>
        </p:spPr>
        <p:txBody>
          <a:bodyPr anchor="t" rtlCol="false" tIns="0" lIns="0" bIns="0" rIns="0">
            <a:spAutoFit/>
          </a:bodyPr>
          <a:lstStyle/>
          <a:p>
            <a:pPr algn="l">
              <a:lnSpc>
                <a:spcPts val="3746"/>
              </a:lnSpc>
            </a:pPr>
            <a:r>
              <a:rPr lang="en-US" b="true" sz="3002" spc="-61">
                <a:solidFill>
                  <a:srgbClr val="000000"/>
                </a:solidFill>
                <a:latin typeface="Petrona Bold"/>
                <a:ea typeface="Petrona Bold"/>
                <a:cs typeface="Petrona Bold"/>
                <a:sym typeface="Petrona Bold"/>
              </a:rPr>
              <a:t>Temporal Incident Analytics Dashboard</a:t>
            </a:r>
          </a:p>
        </p:txBody>
      </p:sp>
      <p:sp>
        <p:nvSpPr>
          <p:cNvPr name="TextBox 8" id="8"/>
          <p:cNvSpPr txBox="true"/>
          <p:nvPr/>
        </p:nvSpPr>
        <p:spPr>
          <a:xfrm rot="0">
            <a:off x="992991" y="4923730"/>
            <a:ext cx="7811795" cy="3374974"/>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Analyzes when incidents occur and identifies changing incident patterns including peak periods, temporal trends, severity changes, and emerging threat patterns.</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Helps identify peak incident periods, temporal patterns, and emerging threat categories whose activity is increasing over time.</a:t>
            </a:r>
          </a:p>
        </p:txBody>
      </p:sp>
      <p:sp>
        <p:nvSpPr>
          <p:cNvPr name="TextBox 9" id="9"/>
          <p:cNvSpPr txBox="true"/>
          <p:nvPr/>
        </p:nvSpPr>
        <p:spPr>
          <a:xfrm rot="0">
            <a:off x="9506588" y="4228395"/>
            <a:ext cx="5361583" cy="467473"/>
          </a:xfrm>
          <a:prstGeom prst="rect">
            <a:avLst/>
          </a:prstGeom>
        </p:spPr>
        <p:txBody>
          <a:bodyPr anchor="t" rtlCol="false" tIns="0" lIns="0" bIns="0" rIns="0">
            <a:spAutoFit/>
          </a:bodyPr>
          <a:lstStyle/>
          <a:p>
            <a:pPr algn="l">
              <a:lnSpc>
                <a:spcPts val="3746"/>
              </a:lnSpc>
            </a:pPr>
            <a:r>
              <a:rPr lang="en-US" b="true" sz="3002" spc="-61">
                <a:solidFill>
                  <a:srgbClr val="000000"/>
                </a:solidFill>
                <a:latin typeface="Petrona Bold"/>
                <a:ea typeface="Petrona Bold"/>
                <a:cs typeface="Petrona Bold"/>
                <a:sym typeface="Petrona Bold"/>
              </a:rPr>
              <a:t>Correlation Analysis Dashboard</a:t>
            </a:r>
          </a:p>
        </p:txBody>
      </p:sp>
      <p:sp>
        <p:nvSpPr>
          <p:cNvPr name="TextBox 10" id="10"/>
          <p:cNvSpPr txBox="true"/>
          <p:nvPr/>
        </p:nvSpPr>
        <p:spPr>
          <a:xfrm rot="0">
            <a:off x="9506588" y="4923730"/>
            <a:ext cx="7811795" cy="3374974"/>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Examines relationships between incident, environmental and operational variables to identify associations between different factors.</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Helps identify correlations between severity, response time, weather, and other variables to understand factor relationships (correlation identifies association, not causation).</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92991" y="1931298"/>
            <a:ext cx="13530164" cy="953538"/>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Incident Response Analytics Dashboard</a:t>
            </a:r>
          </a:p>
        </p:txBody>
      </p:sp>
      <p:sp>
        <p:nvSpPr>
          <p:cNvPr name="TextBox 7" id="7"/>
          <p:cNvSpPr txBox="true"/>
          <p:nvPr/>
        </p:nvSpPr>
        <p:spPr>
          <a:xfrm rot="0">
            <a:off x="1028700" y="4477337"/>
            <a:ext cx="16315868" cy="2773833"/>
          </a:xfrm>
          <a:prstGeom prst="rect">
            <a:avLst/>
          </a:prstGeom>
        </p:spPr>
        <p:txBody>
          <a:bodyPr anchor="t" rtlCol="false" tIns="0" lIns="0" bIns="0" rIns="0">
            <a:spAutoFit/>
          </a:bodyPr>
          <a:lstStyle/>
          <a:p>
            <a:pPr algn="l">
              <a:lnSpc>
                <a:spcPts val="4468"/>
              </a:lnSpc>
            </a:pPr>
            <a:r>
              <a:rPr lang="en-US" b="true" sz="2799" spc="-57">
                <a:solidFill>
                  <a:srgbClr val="272525"/>
                </a:solidFill>
                <a:latin typeface="Inter Bold"/>
                <a:ea typeface="Inter Bold"/>
                <a:cs typeface="Inter Bold"/>
                <a:sym typeface="Inter Bold"/>
              </a:rPr>
              <a:t>What it shows:</a:t>
            </a:r>
            <a:r>
              <a:rPr lang="en-US" sz="2799" spc="-57">
                <a:solidFill>
                  <a:srgbClr val="272525"/>
                </a:solidFill>
                <a:latin typeface="Inter"/>
                <a:ea typeface="Inter"/>
                <a:cs typeface="Inter"/>
                <a:sym typeface="Inter"/>
              </a:rPr>
              <a:t> Evaluates effectiveness of incident response operations and identifies response bottlenecks, locations with slower responses, and operational areas requiring improvement.</a:t>
            </a:r>
          </a:p>
          <a:p>
            <a:pPr algn="l">
              <a:lnSpc>
                <a:spcPts val="4468"/>
              </a:lnSpc>
            </a:pPr>
            <a:r>
              <a:rPr lang="en-US" b="true" sz="2799" spc="-57">
                <a:solidFill>
                  <a:srgbClr val="272525"/>
                </a:solidFill>
                <a:latin typeface="Inter Bold"/>
                <a:ea typeface="Inter Bold"/>
                <a:cs typeface="Inter Bold"/>
                <a:sym typeface="Inter Bold"/>
              </a:rPr>
              <a:t>Purpose:</a:t>
            </a:r>
            <a:r>
              <a:rPr lang="en-US" sz="2799" spc="-57">
                <a:solidFill>
                  <a:srgbClr val="272525"/>
                </a:solidFill>
                <a:latin typeface="Inter"/>
                <a:ea typeface="Inter"/>
                <a:cs typeface="Inter"/>
                <a:sym typeface="Inter"/>
              </a:rPr>
              <a:t> Helps identify response bottlenecks, locations with slower responses, differences in response performance across operational units (using Dispatch Coordinator as operational-unit field), and operational areas requiring improvement for better resource allocation.</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92991" y="2666428"/>
            <a:ext cx="12554050" cy="953538"/>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Security Risk Assessment Dashboard</a:t>
            </a:r>
          </a:p>
        </p:txBody>
      </p:sp>
      <p:sp>
        <p:nvSpPr>
          <p:cNvPr name="TextBox 7" id="7"/>
          <p:cNvSpPr txBox="true"/>
          <p:nvPr/>
        </p:nvSpPr>
        <p:spPr>
          <a:xfrm rot="0">
            <a:off x="1028700" y="4655265"/>
            <a:ext cx="16315868" cy="2889199"/>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Evaluates organization's current security exposure and operational vulnerabilities through threat exposure level analysis, operational vulnerability analysis, risk indicators by location and operational unit, resource allocation pressure, and security weakness analysis.</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Enables management to identify high-risk locations and operational areas requiring additional monitoring or resource attention.</a:t>
            </a:r>
          </a:p>
          <a:p>
            <a:pPr algn="l">
              <a:lnSpc>
                <a:spcPts val="3830"/>
              </a:lnSpc>
            </a:pPr>
            <a:r>
              <a:rPr lang="en-US" b="true" sz="2400" spc="-49">
                <a:solidFill>
                  <a:srgbClr val="272525"/>
                </a:solidFill>
                <a:latin typeface="Inter Bold"/>
                <a:ea typeface="Inter Bold"/>
                <a:cs typeface="Inter Bold"/>
                <a:sym typeface="Inter Bold"/>
              </a:rPr>
              <a:t>Risk Classification:</a:t>
            </a:r>
            <a:r>
              <a:rPr lang="en-US" sz="2400" spc="-49">
                <a:solidFill>
                  <a:srgbClr val="272525"/>
                </a:solidFill>
                <a:latin typeface="Inter"/>
                <a:ea typeface="Inter"/>
                <a:cs typeface="Inter"/>
                <a:sym typeface="Inter"/>
              </a:rPr>
              <a:t> </a:t>
            </a:r>
            <a:r>
              <a:rPr lang="en-US" b="true" sz="2400" spc="-49">
                <a:solidFill>
                  <a:srgbClr val="272525"/>
                </a:solidFill>
                <a:latin typeface="Inter Bold"/>
                <a:ea typeface="Inter Bold"/>
                <a:cs typeface="Inter Bold"/>
                <a:sym typeface="Inter Bold"/>
              </a:rPr>
              <a:t>High Risk</a:t>
            </a:r>
            <a:r>
              <a:rPr lang="en-US" sz="2400" spc="-49">
                <a:solidFill>
                  <a:srgbClr val="272525"/>
                </a:solidFill>
                <a:latin typeface="Inter"/>
                <a:ea typeface="Inter"/>
                <a:cs typeface="Inter"/>
                <a:sym typeface="Inter"/>
              </a:rPr>
              <a:t> (≥40), </a:t>
            </a:r>
            <a:r>
              <a:rPr lang="en-US" b="true" sz="2400" spc="-49">
                <a:solidFill>
                  <a:srgbClr val="272525"/>
                </a:solidFill>
                <a:latin typeface="Inter Bold"/>
                <a:ea typeface="Inter Bold"/>
                <a:cs typeface="Inter Bold"/>
                <a:sym typeface="Inter Bold"/>
              </a:rPr>
              <a:t>Medium Risk</a:t>
            </a:r>
            <a:r>
              <a:rPr lang="en-US" sz="2400" spc="-49">
                <a:solidFill>
                  <a:srgbClr val="272525"/>
                </a:solidFill>
                <a:latin typeface="Inter"/>
                <a:ea typeface="Inter"/>
                <a:cs typeface="Inter"/>
                <a:sym typeface="Inter"/>
              </a:rPr>
              <a:t> (20-&lt;40), </a:t>
            </a:r>
            <a:r>
              <a:rPr lang="en-US" b="true" sz="2400" spc="-49">
                <a:solidFill>
                  <a:srgbClr val="272525"/>
                </a:solidFill>
                <a:latin typeface="Inter Bold"/>
                <a:ea typeface="Inter Bold"/>
                <a:cs typeface="Inter Bold"/>
                <a:sym typeface="Inter Bold"/>
              </a:rPr>
              <a:t>Low Risk</a:t>
            </a:r>
            <a:r>
              <a:rPr lang="en-US" sz="2400" spc="-49">
                <a:solidFill>
                  <a:srgbClr val="272525"/>
                </a:solidFill>
                <a:latin typeface="Inter"/>
                <a:ea typeface="Inter"/>
                <a:cs typeface="Inter"/>
                <a:sym typeface="Inter"/>
              </a:rPr>
              <a:t> (&lt;20).</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92991" y="2825944"/>
            <a:ext cx="11554321" cy="953538"/>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Predictive Intelligence Dashboard</a:t>
            </a:r>
          </a:p>
        </p:txBody>
      </p:sp>
      <p:sp>
        <p:nvSpPr>
          <p:cNvPr name="TextBox 7" id="7"/>
          <p:cNvSpPr txBox="true"/>
          <p:nvPr/>
        </p:nvSpPr>
        <p:spPr>
          <a:xfrm rot="0">
            <a:off x="1028700" y="4814790"/>
            <a:ext cx="16315868" cy="2889199"/>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Extends analysis from historical information towards current and future risk assessment with predictive threat risk model, incident risk/likelihood analysis, predicted risk table, forecasting of incident trends, and current &amp; emerging risk zones.</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Provides forward-looking risk assessment and identifies potential high-risk zones. The Current &amp; Emerging Risk Zones table contains Location, Risk Score, Predicted Risk, and Trend Status to help anticipate future incident risk and enable proactive security measures.</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92991" y="2825944"/>
            <a:ext cx="11391602" cy="953538"/>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Executive Intelligence Dashboard</a:t>
            </a:r>
          </a:p>
        </p:txBody>
      </p:sp>
      <p:sp>
        <p:nvSpPr>
          <p:cNvPr name="TextBox 7" id="7"/>
          <p:cNvSpPr txBox="true"/>
          <p:nvPr/>
        </p:nvSpPr>
        <p:spPr>
          <a:xfrm rot="0">
            <a:off x="1028700" y="4750697"/>
            <a:ext cx="16315868" cy="2889199"/>
          </a:xfrm>
          <a:prstGeom prst="rect">
            <a:avLst/>
          </a:prstGeom>
        </p:spPr>
        <p:txBody>
          <a:bodyPr anchor="t" rtlCol="false" tIns="0" lIns="0" bIns="0" rIns="0">
            <a:spAutoFit/>
          </a:bodyPr>
          <a:lstStyle/>
          <a:p>
            <a:pPr algn="l">
              <a:lnSpc>
                <a:spcPts val="3830"/>
              </a:lnSpc>
            </a:pPr>
            <a:r>
              <a:rPr lang="en-US" b="true" sz="2400" spc="-49">
                <a:solidFill>
                  <a:srgbClr val="272525"/>
                </a:solidFill>
                <a:latin typeface="Inter Bold"/>
                <a:ea typeface="Inter Bold"/>
                <a:cs typeface="Inter Bold"/>
                <a:sym typeface="Inter Bold"/>
              </a:rPr>
              <a:t>What it shows:</a:t>
            </a:r>
            <a:r>
              <a:rPr lang="en-US" sz="2400" spc="-49">
                <a:solidFill>
                  <a:srgbClr val="272525"/>
                </a:solidFill>
                <a:latin typeface="Inter"/>
                <a:ea typeface="Inter"/>
                <a:cs typeface="Inter"/>
                <a:sym typeface="Inter"/>
              </a:rPr>
              <a:t> Provides management with a concise overview of current security conditions and emerging risks through key KPIs (Overall Risk Score, High-Risk Locations, High-Risk Incidents, Maximum Risk Score, Average Response Time, Total Escalated Incidents) and strategic visuals.</a:t>
            </a:r>
          </a:p>
          <a:p>
            <a:pPr algn="l">
              <a:lnSpc>
                <a:spcPts val="3830"/>
              </a:lnSpc>
            </a:pPr>
            <a:r>
              <a:rPr lang="en-US" b="true" sz="2400" spc="-49">
                <a:solidFill>
                  <a:srgbClr val="272525"/>
                </a:solidFill>
                <a:latin typeface="Inter Bold"/>
                <a:ea typeface="Inter Bold"/>
                <a:cs typeface="Inter Bold"/>
                <a:sym typeface="Inter Bold"/>
              </a:rPr>
              <a:t>Purpose:</a:t>
            </a:r>
            <a:r>
              <a:rPr lang="en-US" sz="2400" spc="-49">
                <a:solidFill>
                  <a:srgbClr val="272525"/>
                </a:solidFill>
                <a:latin typeface="Inter"/>
                <a:ea typeface="Inter"/>
                <a:cs typeface="Inter"/>
                <a:sym typeface="Inter"/>
              </a:rPr>
              <a:t> Converts detailed operational and risk analytics into concise information for strategic decision-making. Includes Predicted Risk Distribution, Top High-Risk Locations, Current &amp; Emerging Risk Zones, Critical Security Risk Indicators, and Strategic Decision-Support Metrics for executive-level insights.</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992991" y="2401157"/>
            <a:ext cx="10072490" cy="953538"/>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Insights &amp; Recommendations</a:t>
            </a:r>
          </a:p>
        </p:txBody>
      </p:sp>
      <p:grpSp>
        <p:nvGrpSpPr>
          <p:cNvPr name="Group 7" id="7"/>
          <p:cNvGrpSpPr/>
          <p:nvPr/>
        </p:nvGrpSpPr>
        <p:grpSpPr>
          <a:xfrm rot="0">
            <a:off x="988224" y="4602632"/>
            <a:ext cx="8025527" cy="860746"/>
            <a:chOff x="0" y="0"/>
            <a:chExt cx="10700702" cy="1147661"/>
          </a:xfrm>
        </p:grpSpPr>
        <p:sp>
          <p:nvSpPr>
            <p:cNvPr name="Freeform 8" id="8"/>
            <p:cNvSpPr/>
            <p:nvPr/>
          </p:nvSpPr>
          <p:spPr>
            <a:xfrm flipH="false" flipV="false" rot="0">
              <a:off x="0" y="0"/>
              <a:ext cx="10700639" cy="1147572"/>
            </a:xfrm>
            <a:custGeom>
              <a:avLst/>
              <a:gdLst/>
              <a:ahLst/>
              <a:cxnLst/>
              <a:rect r="r" b="b" t="t" l="l"/>
              <a:pathLst>
                <a:path h="1147572" w="10700639">
                  <a:moveTo>
                    <a:pt x="0" y="573786"/>
                  </a:moveTo>
                  <a:cubicBezTo>
                    <a:pt x="0" y="256921"/>
                    <a:pt x="256921" y="0"/>
                    <a:pt x="573786" y="0"/>
                  </a:cubicBezTo>
                  <a:lnTo>
                    <a:pt x="10126853" y="0"/>
                  </a:lnTo>
                  <a:cubicBezTo>
                    <a:pt x="10443718" y="0"/>
                    <a:pt x="10700639" y="256921"/>
                    <a:pt x="10700639" y="573786"/>
                  </a:cubicBezTo>
                  <a:cubicBezTo>
                    <a:pt x="10700639" y="890651"/>
                    <a:pt x="10443718" y="1147572"/>
                    <a:pt x="10126853" y="1147572"/>
                  </a:cubicBezTo>
                  <a:lnTo>
                    <a:pt x="573786" y="1147572"/>
                  </a:lnTo>
                  <a:cubicBezTo>
                    <a:pt x="256921" y="1147699"/>
                    <a:pt x="0" y="890778"/>
                    <a:pt x="0" y="573786"/>
                  </a:cubicBezTo>
                  <a:close/>
                </a:path>
              </a:pathLst>
            </a:custGeom>
            <a:solidFill>
              <a:srgbClr val="E0D7F4"/>
            </a:solidFill>
            <a:ln w="9532" cap="sq">
              <a:solidFill>
                <a:srgbClr val="C6BDDA"/>
              </a:solidFill>
              <a:prstDash val="solid"/>
              <a:miter/>
            </a:ln>
          </p:spPr>
        </p:sp>
      </p:grpSp>
      <p:sp>
        <p:nvSpPr>
          <p:cNvPr name="TextBox 9" id="9"/>
          <p:cNvSpPr txBox="true"/>
          <p:nvPr/>
        </p:nvSpPr>
        <p:spPr>
          <a:xfrm rot="0">
            <a:off x="1276721" y="4809430"/>
            <a:ext cx="7245795" cy="467473"/>
          </a:xfrm>
          <a:prstGeom prst="rect">
            <a:avLst/>
          </a:prstGeom>
        </p:spPr>
        <p:txBody>
          <a:bodyPr anchor="t" rtlCol="false" tIns="0" lIns="0" bIns="0" rIns="0">
            <a:spAutoFit/>
          </a:bodyPr>
          <a:lstStyle/>
          <a:p>
            <a:pPr algn="l">
              <a:lnSpc>
                <a:spcPts val="3746"/>
              </a:lnSpc>
            </a:pPr>
            <a:r>
              <a:rPr lang="en-US" b="true" sz="3002" spc="-61">
                <a:solidFill>
                  <a:srgbClr val="000000"/>
                </a:solidFill>
                <a:latin typeface="Petrona Bold"/>
                <a:ea typeface="Petrona Bold"/>
                <a:cs typeface="Petrona Bold"/>
                <a:sym typeface="Petrona Bold"/>
              </a:rPr>
              <a:t>Key Insights</a:t>
            </a:r>
          </a:p>
        </p:txBody>
      </p:sp>
      <p:sp>
        <p:nvSpPr>
          <p:cNvPr name="TextBox 10" id="10"/>
          <p:cNvSpPr txBox="true"/>
          <p:nvPr/>
        </p:nvSpPr>
        <p:spPr>
          <a:xfrm rot="0">
            <a:off x="1276721" y="5670242"/>
            <a:ext cx="7448531" cy="1917649"/>
          </a:xfrm>
          <a:prstGeom prst="rect">
            <a:avLst/>
          </a:prstGeom>
        </p:spPr>
        <p:txBody>
          <a:bodyPr anchor="t" rtlCol="false" tIns="0" lIns="0" bIns="0" rIns="0">
            <a:spAutoFit/>
          </a:bodyPr>
          <a:lstStyle/>
          <a:p>
            <a:pPr algn="l">
              <a:lnSpc>
                <a:spcPts val="3830"/>
              </a:lnSpc>
            </a:pPr>
            <a:r>
              <a:rPr lang="en-US" sz="2400" spc="-49">
                <a:solidFill>
                  <a:srgbClr val="272525"/>
                </a:solidFill>
                <a:latin typeface="Inter"/>
                <a:ea typeface="Inter"/>
                <a:cs typeface="Inter"/>
                <a:sym typeface="Inter"/>
              </a:rPr>
              <a:t>High-risk incidents cluster in few locations; severity and response vary by location; some locations show increasing trends; resource pressure aligns with incident volume.</a:t>
            </a:r>
          </a:p>
        </p:txBody>
      </p:sp>
      <p:grpSp>
        <p:nvGrpSpPr>
          <p:cNvPr name="Group 11" id="11"/>
          <p:cNvGrpSpPr/>
          <p:nvPr/>
        </p:nvGrpSpPr>
        <p:grpSpPr>
          <a:xfrm rot="0">
            <a:off x="9287947" y="4602632"/>
            <a:ext cx="8025670" cy="860746"/>
            <a:chOff x="0" y="0"/>
            <a:chExt cx="10700893" cy="1147661"/>
          </a:xfrm>
        </p:grpSpPr>
        <p:sp>
          <p:nvSpPr>
            <p:cNvPr name="Freeform 12" id="12"/>
            <p:cNvSpPr/>
            <p:nvPr/>
          </p:nvSpPr>
          <p:spPr>
            <a:xfrm flipH="false" flipV="false" rot="0">
              <a:off x="0" y="0"/>
              <a:ext cx="10700893" cy="1147572"/>
            </a:xfrm>
            <a:custGeom>
              <a:avLst/>
              <a:gdLst/>
              <a:ahLst/>
              <a:cxnLst/>
              <a:rect r="r" b="b" t="t" l="l"/>
              <a:pathLst>
                <a:path h="1147572" w="10700893">
                  <a:moveTo>
                    <a:pt x="0" y="573786"/>
                  </a:moveTo>
                  <a:cubicBezTo>
                    <a:pt x="0" y="256921"/>
                    <a:pt x="256921" y="0"/>
                    <a:pt x="573786" y="0"/>
                  </a:cubicBezTo>
                  <a:lnTo>
                    <a:pt x="10127107" y="0"/>
                  </a:lnTo>
                  <a:cubicBezTo>
                    <a:pt x="10443972" y="0"/>
                    <a:pt x="10700893" y="256921"/>
                    <a:pt x="10700893" y="573786"/>
                  </a:cubicBezTo>
                  <a:cubicBezTo>
                    <a:pt x="10700893" y="890651"/>
                    <a:pt x="10443972" y="1147572"/>
                    <a:pt x="10127107" y="1147572"/>
                  </a:cubicBezTo>
                  <a:lnTo>
                    <a:pt x="573786" y="1147572"/>
                  </a:lnTo>
                  <a:cubicBezTo>
                    <a:pt x="256921" y="1147699"/>
                    <a:pt x="0" y="890778"/>
                    <a:pt x="0" y="573786"/>
                  </a:cubicBezTo>
                  <a:close/>
                </a:path>
              </a:pathLst>
            </a:custGeom>
            <a:solidFill>
              <a:srgbClr val="E0D7F4"/>
            </a:solidFill>
            <a:ln w="9532" cap="sq">
              <a:solidFill>
                <a:srgbClr val="C6BDDA"/>
              </a:solidFill>
              <a:prstDash val="solid"/>
              <a:miter/>
            </a:ln>
          </p:spPr>
        </p:sp>
      </p:grpSp>
      <p:sp>
        <p:nvSpPr>
          <p:cNvPr name="TextBox 13" id="13"/>
          <p:cNvSpPr txBox="true"/>
          <p:nvPr/>
        </p:nvSpPr>
        <p:spPr>
          <a:xfrm rot="0">
            <a:off x="9864865" y="4809430"/>
            <a:ext cx="3177183" cy="467473"/>
          </a:xfrm>
          <a:prstGeom prst="rect">
            <a:avLst/>
          </a:prstGeom>
        </p:spPr>
        <p:txBody>
          <a:bodyPr anchor="t" rtlCol="false" tIns="0" lIns="0" bIns="0" rIns="0">
            <a:spAutoFit/>
          </a:bodyPr>
          <a:lstStyle/>
          <a:p>
            <a:pPr algn="l">
              <a:lnSpc>
                <a:spcPts val="3746"/>
              </a:lnSpc>
            </a:pPr>
            <a:r>
              <a:rPr lang="en-US" b="true" sz="3002" spc="-61">
                <a:solidFill>
                  <a:srgbClr val="000000"/>
                </a:solidFill>
                <a:latin typeface="Petrona Bold"/>
                <a:ea typeface="Petrona Bold"/>
                <a:cs typeface="Petrona Bold"/>
                <a:sym typeface="Petrona Bold"/>
              </a:rPr>
              <a:t>Recommendations</a:t>
            </a:r>
          </a:p>
        </p:txBody>
      </p:sp>
      <p:sp>
        <p:nvSpPr>
          <p:cNvPr name="TextBox 14" id="14"/>
          <p:cNvSpPr txBox="true"/>
          <p:nvPr/>
        </p:nvSpPr>
        <p:spPr>
          <a:xfrm rot="0">
            <a:off x="9576445" y="5670242"/>
            <a:ext cx="7448674" cy="1431874"/>
          </a:xfrm>
          <a:prstGeom prst="rect">
            <a:avLst/>
          </a:prstGeom>
        </p:spPr>
        <p:txBody>
          <a:bodyPr anchor="t" rtlCol="false" tIns="0" lIns="0" bIns="0" rIns="0">
            <a:spAutoFit/>
          </a:bodyPr>
          <a:lstStyle/>
          <a:p>
            <a:pPr algn="l">
              <a:lnSpc>
                <a:spcPts val="3830"/>
              </a:lnSpc>
            </a:pPr>
            <a:r>
              <a:rPr lang="en-US" sz="2400" spc="-49">
                <a:solidFill>
                  <a:srgbClr val="272525"/>
                </a:solidFill>
                <a:latin typeface="Inter"/>
                <a:ea typeface="Inter"/>
                <a:cs typeface="Inter"/>
                <a:sym typeface="Inter"/>
              </a:rPr>
              <a:t>Prioritise high-risk locations for monitoring/resources; improve allocation where response is slow; monitor emerging trends and review forecasts regularly.</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AF2E9"/>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DFAF7"/>
            </a:solidFill>
          </p:spPr>
        </p:sp>
      </p:grpSp>
      <p:sp>
        <p:nvSpPr>
          <p:cNvPr name="TextBox 6" id="6"/>
          <p:cNvSpPr txBox="true"/>
          <p:nvPr/>
        </p:nvSpPr>
        <p:spPr>
          <a:xfrm rot="0">
            <a:off x="1028700" y="2090966"/>
            <a:ext cx="3893344" cy="953538"/>
          </a:xfrm>
          <a:prstGeom prst="rect">
            <a:avLst/>
          </a:prstGeom>
        </p:spPr>
        <p:txBody>
          <a:bodyPr anchor="t" rtlCol="false" tIns="0" lIns="0" bIns="0" rIns="0">
            <a:spAutoFit/>
          </a:bodyPr>
          <a:lstStyle/>
          <a:p>
            <a:pPr algn="l">
              <a:lnSpc>
                <a:spcPts val="7587"/>
              </a:lnSpc>
            </a:pPr>
            <a:r>
              <a:rPr lang="en-US" b="true" sz="6079" spc="-123">
                <a:solidFill>
                  <a:srgbClr val="45618A"/>
                </a:solidFill>
                <a:latin typeface="Petrona Bold"/>
                <a:ea typeface="Petrona Bold"/>
                <a:cs typeface="Petrona Bold"/>
                <a:sym typeface="Petrona Bold"/>
              </a:rPr>
              <a:t>Conclusion</a:t>
            </a:r>
          </a:p>
        </p:txBody>
      </p:sp>
      <p:sp>
        <p:nvSpPr>
          <p:cNvPr name="TextBox 7" id="7"/>
          <p:cNvSpPr txBox="true"/>
          <p:nvPr/>
        </p:nvSpPr>
        <p:spPr>
          <a:xfrm rot="0">
            <a:off x="1028700" y="3878007"/>
            <a:ext cx="16315868" cy="3335808"/>
          </a:xfrm>
          <a:prstGeom prst="rect">
            <a:avLst/>
          </a:prstGeom>
        </p:spPr>
        <p:txBody>
          <a:bodyPr anchor="t" rtlCol="false" tIns="0" lIns="0" bIns="0" rIns="0">
            <a:spAutoFit/>
          </a:bodyPr>
          <a:lstStyle/>
          <a:p>
            <a:pPr algn="l">
              <a:lnSpc>
                <a:spcPts val="4468"/>
              </a:lnSpc>
            </a:pPr>
            <a:r>
              <a:rPr lang="en-US" sz="2799" spc="-57">
                <a:solidFill>
                  <a:srgbClr val="272525"/>
                </a:solidFill>
                <a:latin typeface="Inter"/>
                <a:ea typeface="Inter"/>
                <a:cs typeface="Inter"/>
                <a:sym typeface="Inter"/>
              </a:rPr>
              <a:t>The Cyber Threat Analytics Platform with Incident Visualization System successfully integrates incident analytics, geographical intelligence, environmental analysis, temporal analysis, response performance, security risk assessment and predictive intelligence into a unified Power BI environment. It provides different levels of analysis for different users—operational users can investigate incidents and locations in detail, while management can use the Security Risk Assessment and Executive Intelligence dashboards to understand current risks and make informed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DAHS7wBHy6A</dc:identifier>
  <dcterms:modified xsi:type="dcterms:W3CDTF">2011-08-01T06:04:30Z</dcterms:modified>
  <cp:revision>1</cp:revision>
  <dc:title>Cyber-Threat-Analytics-Platform-with-Incident-Visualization-System.pptx</dc:title>
</cp:coreProperties>
</file>